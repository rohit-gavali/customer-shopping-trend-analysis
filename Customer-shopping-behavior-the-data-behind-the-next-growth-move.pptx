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DM Sans SemiBold"/>
      <p:regular r:id="rId201314"/>
    </p:embeddedFont>
    <p:embeddedFont>
      <p:font typeface="Inter Medium"/>
      <p:regular r:id="rId201315"/>
    </p:embeddedFont>
    <p:embeddedFont>
      <p:font typeface="Inter SemiBold"/>
      <p:regular r:id="rId201316"/>
    </p:embeddedFont>
    <p:embeddedFont>
      <p:font typeface="Inter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readout connects customer behavior to the next growth move, using the available transaction, product, promotion, subscription, and shipping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is already active: 3,900 purchases across four categories and 50 locations, with 3,116 customers classified as loyal. The growth question is conversion, not acquisition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clear concentration by gender and age group. Clothing is the largest category by both revenue and sales volume, while male customers and young adults lead the observed revenue pools.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Discounts are associated with high-value orders for 839 customers, but exposure is uneven by product. The merchandising implication is to separate profitable promotion from discount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Subscriptions have meaningful reach, but the spend comparison is nearly flat: $59.49 for subscribers versus $59.87 for non-subscribers. Repeat buyers are also more often non-subscribers.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signals are actionable without requiring a new model: ratings identify strong candidates, best-selling examples show category demand, and express shipping has the higher average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three reusable layers: clean the source data, standardize and engineer the analytical fields, then use SQL and Power BI for questions and ongoing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points to three moves: redesign subscription value around exclusive benefits, use loyalty rewards to move returning customers into the loyal segment, and review promotion and merchandising against the strongest revenue, product, and shipping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0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0383" y="3175000"/>
            <a:ext cx="8127797" cy="2575520"/>
          </a:xfrm>
          <a:prstGeom prst="roundRect">
            <a:avLst>
              <a:gd name="adj" fmla="val 8284"/>
            </a:avLst>
          </a:prstGeom>
          <a:solidFill>
            <a:srgbClr val="127A53"/>
          </a:solidFill>
          <a:ln/>
        </p:spPr>
      </p:sp>
      <p:sp>
        <p:nvSpPr>
          <p:cNvPr id="3" name="Text 1"/>
          <p:cNvSpPr/>
          <p:nvPr/>
        </p:nvSpPr>
        <p:spPr>
          <a:xfrm>
            <a:off x="1015975" y="3485991"/>
            <a:ext cx="8026199" cy="222845"/>
          </a:xfrm>
          <a:prstGeom prst="rect">
            <a:avLst/>
          </a:prstGeom>
          <a:noFill/>
          <a:ln/>
        </p:spPr>
        <p:txBody>
          <a:bodyPr wrap="none" lIns="0" tIns="0" rIns="0" bIns="0" rtlCol="0" anchor="t"/>
          <a:lstStyle/>
          <a:p>
            <a:pPr algn="l" indent="0" marL="0">
              <a:lnSpc>
                <a:spcPct val="108000"/>
              </a:lnSpc>
              <a:buNone/>
            </a:pPr>
            <a:r>
              <a:rPr lang="en-US" sz="1350" spc="108" kern="100" dirty="0">
                <a:solidFill>
                  <a:srgbClr val="FFFFFF"/>
                </a:solidFill>
                <a:latin typeface="Inter SemiBold" pitchFamily="34" charset="0"/>
                <a:ea typeface="Inter SemiBold" pitchFamily="34" charset="-122"/>
                <a:cs typeface="Inter SemiBold" pitchFamily="34" charset="-120"/>
              </a:rPr>
              <a:t>CUSTOMER SHOPPING BEHAVIOR</a:t>
            </a:r>
            <a:endParaRPr lang="en-US" sz="1350" dirty="0"/>
          </a:p>
        </p:txBody>
      </p:sp>
      <p:sp>
        <p:nvSpPr>
          <p:cNvPr id="4" name="Text 2"/>
          <p:cNvSpPr/>
          <p:nvPr/>
        </p:nvSpPr>
        <p:spPr>
          <a:xfrm>
            <a:off x="1015975" y="3845520"/>
            <a:ext cx="7416614" cy="1320800"/>
          </a:xfrm>
          <a:prstGeom prst="rect">
            <a:avLst/>
          </a:prstGeom>
          <a:noFill/>
          <a:ln/>
        </p:spPr>
        <p:txBody>
          <a:bodyPr wrap="square" lIns="0" tIns="0" rIns="0" bIns="0" rtlCol="0" anchor="t">
            <a:normAutofit/>
          </a:bodyPr>
          <a:lstStyle/>
          <a:p>
            <a:pPr algn="l" indent="0" marL="0">
              <a:lnSpc>
                <a:spcPct val="83000"/>
              </a:lnSpc>
              <a:buNone/>
            </a:pPr>
            <a:r>
              <a:rPr lang="en-US" sz="5200" spc="-156" kern="100" dirty="0">
                <a:solidFill>
                  <a:srgbClr val="FFFFFF"/>
                </a:solidFill>
                <a:latin typeface="DM Sans SemiBold" pitchFamily="34" charset="0"/>
                <a:ea typeface="DM Sans SemiBold" pitchFamily="34" charset="-122"/>
                <a:cs typeface="DM Sans SemiBold" pitchFamily="34" charset="-120"/>
              </a:rPr>
              <a:t>The data behind the next growth move</a:t>
            </a:r>
            <a:endParaRPr lang="en-US" sz="5200" dirty="0"/>
          </a:p>
        </p:txBody>
      </p:sp>
      <p:sp>
        <p:nvSpPr>
          <p:cNvPr id="5" name="Shape 3"/>
          <p:cNvSpPr/>
          <p:nvPr/>
        </p:nvSpPr>
        <p:spPr>
          <a:xfrm>
            <a:off x="1015975" y="5353645"/>
            <a:ext cx="126898" cy="38100"/>
          </a:xfrm>
          <a:prstGeom prst="roundRect">
            <a:avLst>
              <a:gd name="adj" fmla="val 49999"/>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0"/>
            <a:ext cx="3657509" cy="486767"/>
          </a:xfrm>
          <a:prstGeom prst="rect">
            <a:avLst/>
          </a:prstGeom>
          <a:noFill/>
          <a:ln/>
        </p:spPr>
        <p:txBody>
          <a:bodyPr wrap="square" lIns="0" tIns="0" rIns="0" bIns="0" rtlCol="0" anchor="ctr">
            <a:normAutofit/>
          </a:bodyPr>
          <a:lstStyle/>
          <a:p>
            <a:pPr algn="l" indent="0" marL="0">
              <a:lnSpc>
                <a:spcPct val="118000"/>
              </a:lnSpc>
              <a:buNone/>
            </a:pPr>
            <a:r>
              <a:rPr lang="en-US" sz="1350" dirty="0">
                <a:solidFill>
                  <a:srgbClr val="1C9768"/>
                </a:solidFill>
                <a:latin typeface="Inter Medium" pitchFamily="34" charset="0"/>
                <a:ea typeface="Inter Medium" pitchFamily="34" charset="-122"/>
                <a:cs typeface="Inter Medium" pitchFamily="34" charset="-120"/>
              </a:rPr>
              <a:t>Customer shopping behavior: the data behind the next growth move</a:t>
            </a:r>
            <a:endParaRPr lang="en-US" sz="1350" dirty="0"/>
          </a:p>
        </p:txBody>
      </p:sp>
      <p:sp>
        <p:nvSpPr>
          <p:cNvPr id="3" name="Shape 1"/>
          <p:cNvSpPr/>
          <p:nvPr/>
        </p:nvSpPr>
        <p:spPr>
          <a:xfrm>
            <a:off x="0" y="477242"/>
            <a:ext cx="12191695" cy="9525"/>
          </a:xfrm>
          <a:prstGeom prst="rect">
            <a:avLst/>
          </a:prstGeom>
          <a:solidFill>
            <a:srgbClr val="1C9768">
              <a:alpha val="20000"/>
            </a:srgbClr>
          </a:solidFill>
          <a:ln/>
        </p:spPr>
      </p:sp>
      <p:sp>
        <p:nvSpPr>
          <p:cNvPr id="4" name="Text 2"/>
          <p:cNvSpPr/>
          <p:nvPr/>
        </p:nvSpPr>
        <p:spPr>
          <a:xfrm>
            <a:off x="609585" y="1102558"/>
            <a:ext cx="11582110" cy="222845"/>
          </a:xfrm>
          <a:prstGeom prst="rect">
            <a:avLst/>
          </a:prstGeom>
          <a:noFill/>
          <a:ln/>
        </p:spPr>
        <p:txBody>
          <a:bodyPr wrap="none" lIns="0" tIns="0" rIns="0" bIns="0" rtlCol="0" anchor="t"/>
          <a:lstStyle/>
          <a:p>
            <a:pPr algn="l" indent="0" marL="0">
              <a:lnSpc>
                <a:spcPct val="108000"/>
              </a:lnSpc>
              <a:buNone/>
            </a:pPr>
            <a:r>
              <a:rPr lang="en-US" sz="1350" spc="108" kern="100" dirty="0">
                <a:solidFill>
                  <a:srgbClr val="666666"/>
                </a:solidFill>
                <a:latin typeface="Inter SemiBold" pitchFamily="34" charset="0"/>
                <a:ea typeface="Inter SemiBold" pitchFamily="34" charset="-122"/>
                <a:cs typeface="Inter SemiBold" pitchFamily="34" charset="-120"/>
              </a:rPr>
              <a:t>THE STARTING POINT</a:t>
            </a:r>
            <a:endParaRPr lang="en-US" sz="1350" dirty="0"/>
          </a:p>
        </p:txBody>
      </p:sp>
      <p:sp>
        <p:nvSpPr>
          <p:cNvPr id="5" name="Text 3"/>
          <p:cNvSpPr/>
          <p:nvPr/>
        </p:nvSpPr>
        <p:spPr>
          <a:xfrm>
            <a:off x="609585" y="1441005"/>
            <a:ext cx="10972526" cy="1184473"/>
          </a:xfrm>
          <a:prstGeom prst="rect">
            <a:avLst/>
          </a:prstGeom>
          <a:noFill/>
          <a:ln/>
        </p:spPr>
        <p:txBody>
          <a:bodyPr wrap="square" lIns="0" tIns="0" rIns="0" bIns="0" rtlCol="0" anchor="t">
            <a:normAutofit/>
          </a:bodyPr>
          <a:lstStyle/>
          <a:p>
            <a:pPr algn="l" indent="0" marL="0">
              <a:lnSpc>
                <a:spcPct val="88000"/>
              </a:lnSpc>
              <a:buNone/>
            </a:pPr>
            <a:r>
              <a:rPr lang="en-US" sz="4400" spc="-88" kern="100" dirty="0">
                <a:solidFill>
                  <a:srgbClr val="030303"/>
                </a:solidFill>
                <a:latin typeface="DM Sans SemiBold" pitchFamily="34" charset="0"/>
                <a:ea typeface="DM Sans SemiBold" pitchFamily="34" charset="-122"/>
                <a:cs typeface="DM Sans SemiBold" pitchFamily="34" charset="-120"/>
              </a:rPr>
              <a:t>A loyal customer base is already doing the hard work</a:t>
            </a:r>
            <a:endParaRPr lang="en-US" sz="4400" dirty="0"/>
          </a:p>
        </p:txBody>
      </p:sp>
      <p:sp>
        <p:nvSpPr>
          <p:cNvPr id="6" name="Text 4"/>
          <p:cNvSpPr/>
          <p:nvPr/>
        </p:nvSpPr>
        <p:spPr>
          <a:xfrm>
            <a:off x="609585" y="2784229"/>
            <a:ext cx="11582110" cy="306487"/>
          </a:xfrm>
          <a:prstGeom prst="rect">
            <a:avLst/>
          </a:prstGeom>
          <a:noFill/>
          <a:ln/>
        </p:spPr>
        <p:txBody>
          <a:bodyPr wrap="none" lIns="0" tIns="0" rIns="0" bIns="0" rtlCol="0" anchor="t"/>
          <a:lstStyle/>
          <a:p>
            <a:pPr algn="l" indent="0" marL="0">
              <a:lnSpc>
                <a:spcPct val="118000"/>
              </a:lnSpc>
              <a:buNone/>
            </a:pPr>
            <a:r>
              <a:rPr lang="en-US" sz="1700" dirty="0">
                <a:solidFill>
                  <a:srgbClr val="464646"/>
                </a:solidFill>
                <a:latin typeface="Inter Medium" pitchFamily="34" charset="0"/>
                <a:ea typeface="Inter Medium" pitchFamily="34" charset="-122"/>
                <a:cs typeface="Inter Medium" pitchFamily="34" charset="-120"/>
              </a:rPr>
              <a:t>The question is how to convert existing loyalty into higher-value behavior.</a:t>
            </a:r>
            <a:endParaRPr lang="en-US" sz="1700" dirty="0"/>
          </a:p>
        </p:txBody>
      </p:sp>
      <p:sp>
        <p:nvSpPr>
          <p:cNvPr id="7" name="Shape 5"/>
          <p:cNvSpPr/>
          <p:nvPr/>
        </p:nvSpPr>
        <p:spPr>
          <a:xfrm>
            <a:off x="609585" y="3264198"/>
            <a:ext cx="3454314" cy="2679402"/>
          </a:xfrm>
          <a:prstGeom prst="roundRect">
            <a:avLst>
              <a:gd name="adj" fmla="val 7963"/>
            </a:avLst>
          </a:prstGeom>
          <a:solidFill>
            <a:srgbClr val="EEF7F2"/>
          </a:solidFill>
          <a:ln/>
        </p:spPr>
      </p:sp>
      <p:sp>
        <p:nvSpPr>
          <p:cNvPr id="8" name="Text 6"/>
          <p:cNvSpPr/>
          <p:nvPr/>
        </p:nvSpPr>
        <p:spPr>
          <a:xfrm>
            <a:off x="838179" y="3556298"/>
            <a:ext cx="2997125" cy="660400"/>
          </a:xfrm>
          <a:prstGeom prst="rect">
            <a:avLst/>
          </a:prstGeom>
          <a:noFill/>
          <a:ln/>
        </p:spPr>
        <p:txBody>
          <a:bodyPr wrap="none" lIns="0" tIns="0" rIns="0" bIns="0" rtlCol="0" anchor="t"/>
          <a:lstStyle/>
          <a:p>
            <a:pPr algn="l" indent="0" marL="0">
              <a:lnSpc>
                <a:spcPct val="83000"/>
              </a:lnSpc>
              <a:buNone/>
            </a:pPr>
            <a:r>
              <a:rPr lang="en-US" sz="5200" spc="-182" kern="100" dirty="0">
                <a:solidFill>
                  <a:srgbClr val="127A53"/>
                </a:solidFill>
                <a:latin typeface="DM Sans SemiBold" pitchFamily="34" charset="0"/>
                <a:ea typeface="DM Sans SemiBold" pitchFamily="34" charset="-122"/>
                <a:cs typeface="DM Sans SemiBold" pitchFamily="34" charset="-120"/>
              </a:rPr>
              <a:t>3,900</a:t>
            </a:r>
            <a:endParaRPr lang="en-US" sz="5200" dirty="0"/>
          </a:p>
        </p:txBody>
      </p:sp>
      <p:sp>
        <p:nvSpPr>
          <p:cNvPr id="9" name="Text 7"/>
          <p:cNvSpPr/>
          <p:nvPr/>
        </p:nvSpPr>
        <p:spPr>
          <a:xfrm>
            <a:off x="838179" y="4354096"/>
            <a:ext cx="2997125" cy="462756"/>
          </a:xfrm>
          <a:prstGeom prst="rect">
            <a:avLst/>
          </a:prstGeom>
          <a:noFill/>
          <a:ln/>
        </p:spPr>
        <p:txBody>
          <a:bodyPr wrap="square" lIns="0" tIns="0" rIns="0" bIns="0" rtlCol="0" anchor="t">
            <a:normAutofit/>
          </a:bodyPr>
          <a:lstStyle/>
          <a:p>
            <a:pPr algn="l" indent="0" marL="0">
              <a:lnSpc>
                <a:spcPct val="113000"/>
              </a:lnSpc>
              <a:buNone/>
            </a:pPr>
            <a:r>
              <a:rPr lang="en-US" sz="1350" spc="13" kern="100" dirty="0">
                <a:solidFill>
                  <a:srgbClr val="464646"/>
                </a:solidFill>
                <a:latin typeface="Inter Medium" pitchFamily="34" charset="0"/>
                <a:ea typeface="Inter Medium" pitchFamily="34" charset="-122"/>
                <a:cs typeface="Inter Medium" pitchFamily="34" charset="-120"/>
              </a:rPr>
              <a:t>purchases across four categories and 50 locations</a:t>
            </a:r>
            <a:endParaRPr lang="en-US" sz="1350" dirty="0"/>
          </a:p>
        </p:txBody>
      </p:sp>
      <p:sp>
        <p:nvSpPr>
          <p:cNvPr id="10" name="Shape 8"/>
          <p:cNvSpPr/>
          <p:nvPr/>
        </p:nvSpPr>
        <p:spPr>
          <a:xfrm>
            <a:off x="4368691" y="3264198"/>
            <a:ext cx="3454314" cy="2679402"/>
          </a:xfrm>
          <a:prstGeom prst="roundRect">
            <a:avLst>
              <a:gd name="adj" fmla="val 7963"/>
            </a:avLst>
          </a:prstGeom>
          <a:solidFill>
            <a:srgbClr val="EEF7F2"/>
          </a:solidFill>
          <a:ln/>
        </p:spPr>
      </p:sp>
      <p:sp>
        <p:nvSpPr>
          <p:cNvPr id="11" name="Text 9"/>
          <p:cNvSpPr/>
          <p:nvPr/>
        </p:nvSpPr>
        <p:spPr>
          <a:xfrm>
            <a:off x="4597285" y="3556298"/>
            <a:ext cx="2997125" cy="660400"/>
          </a:xfrm>
          <a:prstGeom prst="rect">
            <a:avLst/>
          </a:prstGeom>
          <a:noFill/>
          <a:ln/>
        </p:spPr>
        <p:txBody>
          <a:bodyPr wrap="none" lIns="0" tIns="0" rIns="0" bIns="0" rtlCol="0" anchor="t"/>
          <a:lstStyle/>
          <a:p>
            <a:pPr algn="l" indent="0" marL="0">
              <a:lnSpc>
                <a:spcPct val="83000"/>
              </a:lnSpc>
              <a:buNone/>
            </a:pPr>
            <a:r>
              <a:rPr lang="en-US" sz="5200" spc="-182" kern="100" dirty="0">
                <a:solidFill>
                  <a:srgbClr val="127A53"/>
                </a:solidFill>
                <a:latin typeface="DM Sans SemiBold" pitchFamily="34" charset="0"/>
                <a:ea typeface="DM Sans SemiBold" pitchFamily="34" charset="-122"/>
                <a:cs typeface="DM Sans SemiBold" pitchFamily="34" charset="-120"/>
              </a:rPr>
              <a:t>3,116</a:t>
            </a:r>
            <a:endParaRPr lang="en-US" sz="5200" dirty="0"/>
          </a:p>
        </p:txBody>
      </p:sp>
      <p:sp>
        <p:nvSpPr>
          <p:cNvPr id="12" name="Text 10"/>
          <p:cNvSpPr/>
          <p:nvPr/>
        </p:nvSpPr>
        <p:spPr>
          <a:xfrm>
            <a:off x="4597285" y="4354096"/>
            <a:ext cx="3225719" cy="231378"/>
          </a:xfrm>
          <a:prstGeom prst="rect">
            <a:avLst/>
          </a:prstGeom>
          <a:noFill/>
          <a:ln/>
        </p:spPr>
        <p:txBody>
          <a:bodyPr wrap="none" lIns="0" tIns="0" rIns="0" bIns="0" rtlCol="0" anchor="t"/>
          <a:lstStyle/>
          <a:p>
            <a:pPr algn="l" indent="0" marL="0">
              <a:lnSpc>
                <a:spcPct val="113000"/>
              </a:lnSpc>
              <a:buNone/>
            </a:pPr>
            <a:r>
              <a:rPr lang="en-US" sz="1350" spc="13" kern="100" dirty="0">
                <a:solidFill>
                  <a:srgbClr val="464646"/>
                </a:solidFill>
                <a:latin typeface="Inter Medium" pitchFamily="34" charset="0"/>
                <a:ea typeface="Inter Medium" pitchFamily="34" charset="-122"/>
                <a:cs typeface="Inter Medium" pitchFamily="34" charset="-120"/>
              </a:rPr>
              <a:t>customers classified as loyal</a:t>
            </a:r>
            <a:endParaRPr lang="en-US" sz="1350" dirty="0"/>
          </a:p>
        </p:txBody>
      </p:sp>
      <p:sp>
        <p:nvSpPr>
          <p:cNvPr id="13" name="Shape 11"/>
          <p:cNvSpPr/>
          <p:nvPr/>
        </p:nvSpPr>
        <p:spPr>
          <a:xfrm>
            <a:off x="8127797" y="3264198"/>
            <a:ext cx="3454314" cy="2679402"/>
          </a:xfrm>
          <a:prstGeom prst="roundRect">
            <a:avLst>
              <a:gd name="adj" fmla="val 7963"/>
            </a:avLst>
          </a:prstGeom>
          <a:solidFill>
            <a:srgbClr val="EEF7F2"/>
          </a:solidFill>
          <a:ln/>
        </p:spPr>
      </p:sp>
      <p:sp>
        <p:nvSpPr>
          <p:cNvPr id="14" name="Text 12"/>
          <p:cNvSpPr/>
          <p:nvPr/>
        </p:nvSpPr>
        <p:spPr>
          <a:xfrm>
            <a:off x="8356391" y="3556298"/>
            <a:ext cx="2997125" cy="660400"/>
          </a:xfrm>
          <a:prstGeom prst="rect">
            <a:avLst/>
          </a:prstGeom>
          <a:noFill/>
          <a:ln/>
        </p:spPr>
        <p:txBody>
          <a:bodyPr wrap="none" lIns="0" tIns="0" rIns="0" bIns="0" rtlCol="0" anchor="t"/>
          <a:lstStyle/>
          <a:p>
            <a:pPr algn="l" indent="0" marL="0">
              <a:lnSpc>
                <a:spcPct val="83000"/>
              </a:lnSpc>
              <a:buNone/>
            </a:pPr>
            <a:r>
              <a:rPr lang="en-US" sz="5200" spc="-182" kern="100" dirty="0">
                <a:solidFill>
                  <a:srgbClr val="127A53"/>
                </a:solidFill>
                <a:latin typeface="DM Sans SemiBold" pitchFamily="34" charset="0"/>
                <a:ea typeface="DM Sans SemiBold" pitchFamily="34" charset="-122"/>
                <a:cs typeface="DM Sans SemiBold" pitchFamily="34" charset="-120"/>
              </a:rPr>
              <a:t>701</a:t>
            </a:r>
            <a:endParaRPr lang="en-US" sz="5200" dirty="0"/>
          </a:p>
        </p:txBody>
      </p:sp>
      <p:sp>
        <p:nvSpPr>
          <p:cNvPr id="15" name="Text 13"/>
          <p:cNvSpPr/>
          <p:nvPr/>
        </p:nvSpPr>
        <p:spPr>
          <a:xfrm>
            <a:off x="8356391" y="4354096"/>
            <a:ext cx="2997125" cy="462756"/>
          </a:xfrm>
          <a:prstGeom prst="rect">
            <a:avLst/>
          </a:prstGeom>
          <a:noFill/>
          <a:ln/>
        </p:spPr>
        <p:txBody>
          <a:bodyPr wrap="square" lIns="0" tIns="0" rIns="0" bIns="0" rtlCol="0" anchor="t">
            <a:normAutofit/>
          </a:bodyPr>
          <a:lstStyle/>
          <a:p>
            <a:pPr algn="l" indent="0" marL="0">
              <a:lnSpc>
                <a:spcPct val="113000"/>
              </a:lnSpc>
              <a:buNone/>
            </a:pPr>
            <a:r>
              <a:rPr lang="en-US" sz="1350" spc="13" kern="100" dirty="0">
                <a:solidFill>
                  <a:srgbClr val="464646"/>
                </a:solidFill>
                <a:latin typeface="Inter Medium" pitchFamily="34" charset="0"/>
                <a:ea typeface="Inter Medium" pitchFamily="34" charset="-122"/>
                <a:cs typeface="Inter Medium" pitchFamily="34" charset="-120"/>
              </a:rPr>
              <a:t>returning customers, alongside 83 new</a:t>
            </a:r>
            <a:endParaRPr lang="en-US" sz="1350" dirty="0"/>
          </a:p>
        </p:txBody>
      </p:sp>
      <p:sp>
        <p:nvSpPr>
          <p:cNvPr id="16" name="Shape 14"/>
          <p:cNvSpPr/>
          <p:nvPr/>
        </p:nvSpPr>
        <p:spPr>
          <a:xfrm>
            <a:off x="0" y="6553200"/>
            <a:ext cx="12191695" cy="304800"/>
          </a:xfrm>
          <a:prstGeom prst="rect">
            <a:avLst/>
          </a:prstGeom>
          <a:solidFill>
            <a:srgbClr val="FFFFFF"/>
          </a:solidFill>
          <a:ln/>
        </p:spPr>
      </p:sp>
      <p:sp>
        <p:nvSpPr>
          <p:cNvPr id="17" name="Text 15"/>
          <p:cNvSpPr/>
          <p:nvPr/>
        </p:nvSpPr>
        <p:spPr>
          <a:xfrm>
            <a:off x="11365720" y="6583859"/>
            <a:ext cx="825975" cy="243384"/>
          </a:xfrm>
          <a:prstGeom prst="rect">
            <a:avLst/>
          </a:prstGeom>
          <a:noFill/>
          <a:ln/>
        </p:spPr>
        <p:txBody>
          <a:bodyPr wrap="none" lIns="0" tIns="0" rIns="0" bIns="0" rtlCol="0" anchor="ctr"/>
          <a:lstStyle/>
          <a:p>
            <a:pPr algn="l" indent="0" marL="0">
              <a:lnSpc>
                <a:spcPct val="118000"/>
              </a:lnSpc>
              <a:buNone/>
            </a:pPr>
            <a:r>
              <a:rPr lang="en-US" sz="1350" dirty="0">
                <a:solidFill>
                  <a:srgbClr val="000000"/>
                </a:solidFill>
                <a:latin typeface="Inter Medium" pitchFamily="34" charset="0"/>
                <a:ea typeface="Inter Medium" pitchFamily="34" charset="-122"/>
                <a:cs typeface="Inter Medium" pitchFamily="34" charset="-120"/>
              </a:rPr>
              <a:t>02</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0"/>
            <a:ext cx="3657509" cy="486767"/>
          </a:xfrm>
          <a:prstGeom prst="rect">
            <a:avLst/>
          </a:prstGeom>
          <a:noFill/>
          <a:ln/>
        </p:spPr>
        <p:txBody>
          <a:bodyPr wrap="square" lIns="0" tIns="0" rIns="0" bIns="0" rtlCol="0" anchor="ctr">
            <a:normAutofit/>
          </a:bodyPr>
          <a:lstStyle/>
          <a:p>
            <a:pPr algn="l" indent="0" marL="0">
              <a:lnSpc>
                <a:spcPct val="118000"/>
              </a:lnSpc>
              <a:buNone/>
            </a:pPr>
            <a:r>
              <a:rPr lang="en-US" sz="1350" dirty="0">
                <a:solidFill>
                  <a:srgbClr val="1C9768"/>
                </a:solidFill>
                <a:latin typeface="Inter Medium" pitchFamily="34" charset="0"/>
                <a:ea typeface="Inter Medium" pitchFamily="34" charset="-122"/>
                <a:cs typeface="Inter Medium" pitchFamily="34" charset="-120"/>
              </a:rPr>
              <a:t>Customer shopping behavior: the data behind the next growth move</a:t>
            </a:r>
            <a:endParaRPr lang="en-US" sz="1350" dirty="0"/>
          </a:p>
        </p:txBody>
      </p:sp>
      <p:sp>
        <p:nvSpPr>
          <p:cNvPr id="3" name="Shape 1"/>
          <p:cNvSpPr/>
          <p:nvPr/>
        </p:nvSpPr>
        <p:spPr>
          <a:xfrm>
            <a:off x="0" y="477242"/>
            <a:ext cx="12191695" cy="9525"/>
          </a:xfrm>
          <a:prstGeom prst="rect">
            <a:avLst/>
          </a:prstGeom>
          <a:solidFill>
            <a:srgbClr val="1C9768">
              <a:alpha val="20000"/>
            </a:srgbClr>
          </a:solidFill>
          <a:ln/>
        </p:spPr>
      </p:sp>
      <p:sp>
        <p:nvSpPr>
          <p:cNvPr id="4" name="Text 2"/>
          <p:cNvSpPr/>
          <p:nvPr/>
        </p:nvSpPr>
        <p:spPr>
          <a:xfrm>
            <a:off x="609585" y="1102558"/>
            <a:ext cx="11582110" cy="222845"/>
          </a:xfrm>
          <a:prstGeom prst="rect">
            <a:avLst/>
          </a:prstGeom>
          <a:noFill/>
          <a:ln/>
        </p:spPr>
        <p:txBody>
          <a:bodyPr wrap="none" lIns="0" tIns="0" rIns="0" bIns="0" rtlCol="0" anchor="t"/>
          <a:lstStyle/>
          <a:p>
            <a:pPr algn="l" indent="0" marL="0">
              <a:lnSpc>
                <a:spcPct val="108000"/>
              </a:lnSpc>
              <a:buNone/>
            </a:pPr>
            <a:r>
              <a:rPr lang="en-US" sz="1350" spc="108" kern="100" dirty="0">
                <a:solidFill>
                  <a:srgbClr val="666666"/>
                </a:solidFill>
                <a:latin typeface="Inter SemiBold" pitchFamily="34" charset="0"/>
                <a:ea typeface="Inter SemiBold" pitchFamily="34" charset="-122"/>
                <a:cs typeface="Inter SemiBold" pitchFamily="34" charset="-120"/>
              </a:rPr>
              <a:t>DEMAND POOLS</a:t>
            </a:r>
            <a:endParaRPr lang="en-US" sz="1350" dirty="0"/>
          </a:p>
        </p:txBody>
      </p:sp>
      <p:sp>
        <p:nvSpPr>
          <p:cNvPr id="5" name="Text 3"/>
          <p:cNvSpPr/>
          <p:nvPr/>
        </p:nvSpPr>
        <p:spPr>
          <a:xfrm>
            <a:off x="609585" y="1431798"/>
            <a:ext cx="10972526" cy="457696"/>
          </a:xfrm>
          <a:prstGeom prst="rect">
            <a:avLst/>
          </a:prstGeom>
          <a:noFill/>
          <a:ln/>
        </p:spPr>
        <p:txBody>
          <a:bodyPr wrap="none" lIns="0" tIns="0" rIns="0" bIns="0" rtlCol="0" anchor="t"/>
          <a:lstStyle/>
          <a:p>
            <a:pPr algn="l" indent="0" marL="0">
              <a:lnSpc>
                <a:spcPct val="88000"/>
              </a:lnSpc>
              <a:buNone/>
            </a:pPr>
            <a:r>
              <a:rPr lang="en-US" sz="3400" spc="-68" kern="100" dirty="0">
                <a:solidFill>
                  <a:srgbClr val="030303"/>
                </a:solidFill>
                <a:latin typeface="DM Sans SemiBold" pitchFamily="34" charset="0"/>
                <a:ea typeface="DM Sans SemiBold" pitchFamily="34" charset="-122"/>
                <a:cs typeface="DM Sans SemiBold" pitchFamily="34" charset="-120"/>
              </a:rPr>
              <a:t>Revenue is concentrated in a few clear demand pools</a:t>
            </a:r>
            <a:endParaRPr lang="en-US" sz="3400" dirty="0"/>
          </a:p>
        </p:txBody>
      </p:sp>
      <p:pic>
        <p:nvPicPr>
          <p:cNvPr id="6" name="Image 0" descr="preencoded.png">    </p:cNvPr>
          <p:cNvPicPr>
            <a:picLocks noChangeAspect="1"/>
          </p:cNvPicPr>
          <p:nvPr/>
        </p:nvPicPr>
        <p:blipFill>
          <a:blip r:embed="rId1"/>
          <a:stretch>
            <a:fillRect/>
          </a:stretch>
        </p:blipFill>
        <p:spPr>
          <a:xfrm>
            <a:off x="609585" y="2281734"/>
            <a:ext cx="6934027" cy="3219450"/>
          </a:xfrm>
          <a:prstGeom prst="rect">
            <a:avLst/>
          </a:prstGeom>
        </p:spPr>
      </p:pic>
      <p:sp>
        <p:nvSpPr>
          <p:cNvPr id="7" name="Text 4"/>
          <p:cNvSpPr/>
          <p:nvPr/>
        </p:nvSpPr>
        <p:spPr>
          <a:xfrm>
            <a:off x="609585" y="5584607"/>
            <a:ext cx="6934027" cy="231378"/>
          </a:xfrm>
          <a:prstGeom prst="rect">
            <a:avLst/>
          </a:prstGeom>
          <a:noFill/>
          <a:ln/>
        </p:spPr>
        <p:txBody>
          <a:bodyPr wrap="none" lIns="0" tIns="0" rIns="0" bIns="0" rtlCol="0" anchor="t"/>
          <a:lstStyle/>
          <a:p>
            <a:pPr algn="l" indent="0" marL="0">
              <a:lnSpc>
                <a:spcPct val="113000"/>
              </a:lnSpc>
              <a:buNone/>
            </a:pPr>
            <a:r>
              <a:rPr lang="en-US" sz="1350" spc="13" kern="100" dirty="0">
                <a:solidFill>
                  <a:srgbClr val="666666"/>
                </a:solidFill>
                <a:latin typeface="Inter Medium" pitchFamily="34" charset="0"/>
                <a:ea typeface="Inter Medium" pitchFamily="34" charset="-122"/>
                <a:cs typeface="Inter Medium" pitchFamily="34" charset="-120"/>
              </a:rPr>
              <a:t>Revenue by customer gender and age group</a:t>
            </a:r>
            <a:endParaRPr lang="en-US" sz="1350" dirty="0"/>
          </a:p>
        </p:txBody>
      </p:sp>
      <p:sp>
        <p:nvSpPr>
          <p:cNvPr id="8" name="Shape 5"/>
          <p:cNvSpPr/>
          <p:nvPr/>
        </p:nvSpPr>
        <p:spPr>
          <a:xfrm>
            <a:off x="7848304" y="2053134"/>
            <a:ext cx="3733806" cy="3987403"/>
          </a:xfrm>
          <a:prstGeom prst="roundRect">
            <a:avLst>
              <a:gd name="adj" fmla="val 5714"/>
            </a:avLst>
          </a:prstGeom>
          <a:solidFill>
            <a:srgbClr val="EEF7F2"/>
          </a:solidFill>
          <a:ln/>
        </p:spPr>
      </p:sp>
      <p:sp>
        <p:nvSpPr>
          <p:cNvPr id="9" name="Shape 6"/>
          <p:cNvSpPr/>
          <p:nvPr/>
        </p:nvSpPr>
        <p:spPr>
          <a:xfrm>
            <a:off x="8076899" y="2300486"/>
            <a:ext cx="2676954" cy="353913"/>
          </a:xfrm>
          <a:prstGeom prst="roundRect">
            <a:avLst>
              <a:gd name="adj" fmla="val 49999"/>
            </a:avLst>
          </a:prstGeom>
          <a:solidFill>
            <a:srgbClr val="127A53"/>
          </a:solidFill>
          <a:ln/>
        </p:spPr>
      </p:sp>
      <p:sp>
        <p:nvSpPr>
          <p:cNvPr id="10" name="Text 7"/>
          <p:cNvSpPr/>
          <p:nvPr/>
        </p:nvSpPr>
        <p:spPr>
          <a:xfrm>
            <a:off x="8206376" y="2375718"/>
            <a:ext cx="3027584" cy="224532"/>
          </a:xfrm>
          <a:prstGeom prst="rect">
            <a:avLst/>
          </a:prstGeom>
          <a:noFill/>
          <a:ln/>
        </p:spPr>
        <p:txBody>
          <a:bodyPr wrap="none" lIns="0" tIns="0" rIns="0" bIns="0" rtlCol="0" anchor="t"/>
          <a:lstStyle/>
          <a:p>
            <a:pPr algn="l" indent="0" marL="0">
              <a:lnSpc>
                <a:spcPct val="108000"/>
              </a:lnSpc>
              <a:buNone/>
            </a:pPr>
            <a:r>
              <a:rPr lang="en-US" sz="1350" dirty="0">
                <a:solidFill>
                  <a:srgbClr val="FFFFFF"/>
                </a:solidFill>
                <a:latin typeface="Inter SemiBold" pitchFamily="34" charset="0"/>
                <a:ea typeface="Inter SemiBold" pitchFamily="34" charset="-122"/>
                <a:cs typeface="Inter SemiBold" pitchFamily="34" charset="-120"/>
              </a:rPr>
              <a:t>READ THE CONCENTRATION</a:t>
            </a:r>
            <a:endParaRPr lang="en-US" sz="1350" dirty="0"/>
          </a:p>
        </p:txBody>
      </p:sp>
      <p:sp>
        <p:nvSpPr>
          <p:cNvPr id="11" name="Text 8"/>
          <p:cNvSpPr/>
          <p:nvPr/>
        </p:nvSpPr>
        <p:spPr>
          <a:xfrm>
            <a:off x="8076899" y="2744252"/>
            <a:ext cx="3276617" cy="1188541"/>
          </a:xfrm>
          <a:prstGeom prst="rect">
            <a:avLst/>
          </a:prstGeom>
          <a:noFill/>
          <a:ln/>
        </p:spPr>
        <p:txBody>
          <a:bodyPr wrap="square" lIns="0" tIns="0" rIns="0" bIns="0" rtlCol="0" anchor="t">
            <a:normAutofit/>
          </a:bodyPr>
          <a:lstStyle/>
          <a:p>
            <a:pPr algn="l" indent="0" marL="0">
              <a:lnSpc>
                <a:spcPct val="108000"/>
              </a:lnSpc>
              <a:buNone/>
            </a:pPr>
            <a:r>
              <a:rPr lang="en-US" sz="2400" spc="-12" kern="100" dirty="0">
                <a:solidFill>
                  <a:srgbClr val="464646"/>
                </a:solidFill>
                <a:latin typeface="Inter Medium" pitchFamily="34" charset="0"/>
                <a:ea typeface="Inter Medium" pitchFamily="34" charset="-122"/>
                <a:cs typeface="Inter Medium" pitchFamily="34" charset="-120"/>
              </a:rPr>
              <a:t>Male customers: $157,890; female customers: $75,191.</a:t>
            </a:r>
            <a:endParaRPr lang="en-US" sz="2400" dirty="0"/>
          </a:p>
        </p:txBody>
      </p:sp>
      <p:sp>
        <p:nvSpPr>
          <p:cNvPr id="12" name="Text 9"/>
          <p:cNvSpPr/>
          <p:nvPr/>
        </p:nvSpPr>
        <p:spPr>
          <a:xfrm>
            <a:off x="8076899" y="4069509"/>
            <a:ext cx="3276617" cy="919460"/>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464646"/>
                </a:solidFill>
                <a:latin typeface="Inter Medium" pitchFamily="34" charset="0"/>
                <a:ea typeface="Inter Medium" pitchFamily="34" charset="-122"/>
                <a:cs typeface="Inter Medium" pitchFamily="34" charset="-120"/>
              </a:rPr>
              <a:t>Young adults lead age-group revenue at $62,143; middle-aged customers: $59,197.</a:t>
            </a:r>
            <a:endParaRPr lang="en-US" sz="1700" dirty="0"/>
          </a:p>
        </p:txBody>
      </p:sp>
      <p:sp>
        <p:nvSpPr>
          <p:cNvPr id="13" name="Text 10"/>
          <p:cNvSpPr/>
          <p:nvPr/>
        </p:nvSpPr>
        <p:spPr>
          <a:xfrm>
            <a:off x="8076899" y="5102999"/>
            <a:ext cx="3276617" cy="694134"/>
          </a:xfrm>
          <a:prstGeom prst="rect">
            <a:avLst/>
          </a:prstGeom>
          <a:noFill/>
          <a:ln/>
        </p:spPr>
        <p:txBody>
          <a:bodyPr wrap="square" lIns="0" tIns="0" rIns="0" bIns="0" rtlCol="0" anchor="t">
            <a:normAutofit/>
          </a:bodyPr>
          <a:lstStyle/>
          <a:p>
            <a:pPr algn="l" indent="0" marL="0">
              <a:lnSpc>
                <a:spcPct val="113000"/>
              </a:lnSpc>
              <a:buNone/>
            </a:pPr>
            <a:r>
              <a:rPr lang="en-US" sz="1350" spc="13" kern="100" dirty="0">
                <a:solidFill>
                  <a:srgbClr val="464646"/>
                </a:solidFill>
                <a:latin typeface="Inter Medium" pitchFamily="34" charset="0"/>
                <a:ea typeface="Inter Medium" pitchFamily="34" charset="-122"/>
                <a:cs typeface="Inter Medium" pitchFamily="34" charset="-120"/>
              </a:rPr>
              <a:t>Clothing is the largest category by both revenue and sales volume in the dashboard.</a:t>
            </a:r>
            <a:endParaRPr lang="en-US" sz="1350" dirty="0"/>
          </a:p>
        </p:txBody>
      </p:sp>
      <p:sp>
        <p:nvSpPr>
          <p:cNvPr id="14" name="Shape 11"/>
          <p:cNvSpPr/>
          <p:nvPr/>
        </p:nvSpPr>
        <p:spPr>
          <a:xfrm>
            <a:off x="0" y="6553200"/>
            <a:ext cx="12191695" cy="304800"/>
          </a:xfrm>
          <a:prstGeom prst="rect">
            <a:avLst/>
          </a:prstGeom>
          <a:solidFill>
            <a:srgbClr val="FFFFFF"/>
          </a:solidFill>
          <a:ln/>
        </p:spPr>
      </p:sp>
      <p:sp>
        <p:nvSpPr>
          <p:cNvPr id="15" name="Text 12"/>
          <p:cNvSpPr/>
          <p:nvPr/>
        </p:nvSpPr>
        <p:spPr>
          <a:xfrm>
            <a:off x="11363934" y="6583859"/>
            <a:ext cx="827761" cy="243384"/>
          </a:xfrm>
          <a:prstGeom prst="rect">
            <a:avLst/>
          </a:prstGeom>
          <a:noFill/>
          <a:ln/>
        </p:spPr>
        <p:txBody>
          <a:bodyPr wrap="none" lIns="0" tIns="0" rIns="0" bIns="0" rtlCol="0" anchor="ctr"/>
          <a:lstStyle/>
          <a:p>
            <a:pPr algn="l" indent="0" marL="0">
              <a:lnSpc>
                <a:spcPct val="118000"/>
              </a:lnSpc>
              <a:buNone/>
            </a:pPr>
            <a:r>
              <a:rPr lang="en-US" sz="1350" dirty="0">
                <a:solidFill>
                  <a:srgbClr val="000000"/>
                </a:solidFill>
                <a:latin typeface="Inter Medium" pitchFamily="34" charset="0"/>
                <a:ea typeface="Inter Medium" pitchFamily="34" charset="-122"/>
                <a:cs typeface="Inter Medium" pitchFamily="34" charset="-120"/>
              </a:rPr>
              <a:t>03</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0"/>
            <a:ext cx="3657509" cy="486767"/>
          </a:xfrm>
          <a:prstGeom prst="rect">
            <a:avLst/>
          </a:prstGeom>
          <a:noFill/>
          <a:ln/>
        </p:spPr>
        <p:txBody>
          <a:bodyPr wrap="square" lIns="0" tIns="0" rIns="0" bIns="0" rtlCol="0" anchor="ctr">
            <a:normAutofit/>
          </a:bodyPr>
          <a:lstStyle/>
          <a:p>
            <a:pPr algn="l" indent="0" marL="0">
              <a:lnSpc>
                <a:spcPct val="118000"/>
              </a:lnSpc>
              <a:buNone/>
            </a:pPr>
            <a:r>
              <a:rPr lang="en-US" sz="1350" dirty="0">
                <a:solidFill>
                  <a:srgbClr val="1C9768"/>
                </a:solidFill>
                <a:latin typeface="Inter Medium" pitchFamily="34" charset="0"/>
                <a:ea typeface="Inter Medium" pitchFamily="34" charset="-122"/>
                <a:cs typeface="Inter Medium" pitchFamily="34" charset="-120"/>
              </a:rPr>
              <a:t>Customer shopping behavior: the data behind the next growth move</a:t>
            </a:r>
            <a:endParaRPr lang="en-US" sz="1350" dirty="0"/>
          </a:p>
        </p:txBody>
      </p:sp>
      <p:sp>
        <p:nvSpPr>
          <p:cNvPr id="3" name="Shape 1"/>
          <p:cNvSpPr/>
          <p:nvPr/>
        </p:nvSpPr>
        <p:spPr>
          <a:xfrm>
            <a:off x="0" y="477242"/>
            <a:ext cx="12191695" cy="9525"/>
          </a:xfrm>
          <a:prstGeom prst="rect">
            <a:avLst/>
          </a:prstGeom>
          <a:solidFill>
            <a:srgbClr val="1C9768">
              <a:alpha val="20000"/>
            </a:srgbClr>
          </a:solidFill>
          <a:ln/>
        </p:spPr>
      </p:sp>
      <p:sp>
        <p:nvSpPr>
          <p:cNvPr id="4" name="Text 2"/>
          <p:cNvSpPr/>
          <p:nvPr/>
        </p:nvSpPr>
        <p:spPr>
          <a:xfrm>
            <a:off x="609585" y="1102558"/>
            <a:ext cx="11582110" cy="222845"/>
          </a:xfrm>
          <a:prstGeom prst="rect">
            <a:avLst/>
          </a:prstGeom>
          <a:noFill/>
          <a:ln/>
        </p:spPr>
        <p:txBody>
          <a:bodyPr wrap="none" lIns="0" tIns="0" rIns="0" bIns="0" rtlCol="0" anchor="t"/>
          <a:lstStyle/>
          <a:p>
            <a:pPr algn="l" indent="0" marL="0">
              <a:lnSpc>
                <a:spcPct val="108000"/>
              </a:lnSpc>
              <a:buNone/>
            </a:pPr>
            <a:r>
              <a:rPr lang="en-US" sz="1350" spc="108" kern="100" dirty="0">
                <a:solidFill>
                  <a:srgbClr val="666666"/>
                </a:solidFill>
                <a:latin typeface="Inter SemiBold" pitchFamily="34" charset="0"/>
                <a:ea typeface="Inter SemiBold" pitchFamily="34" charset="-122"/>
                <a:cs typeface="Inter SemiBold" pitchFamily="34" charset="-120"/>
              </a:rPr>
              <a:t>PROMOTION DEPENDENCE</a:t>
            </a:r>
            <a:endParaRPr lang="en-US" sz="1350" dirty="0"/>
          </a:p>
        </p:txBody>
      </p:sp>
      <p:sp>
        <p:nvSpPr>
          <p:cNvPr id="5" name="Text 3"/>
          <p:cNvSpPr/>
          <p:nvPr/>
        </p:nvSpPr>
        <p:spPr>
          <a:xfrm>
            <a:off x="609585" y="1431798"/>
            <a:ext cx="10972526" cy="915392"/>
          </a:xfrm>
          <a:prstGeom prst="rect">
            <a:avLst/>
          </a:prstGeom>
          <a:noFill/>
          <a:ln/>
        </p:spPr>
        <p:txBody>
          <a:bodyPr wrap="square" lIns="0" tIns="0" rIns="0" bIns="0" rtlCol="0" anchor="t">
            <a:normAutofit/>
          </a:bodyPr>
          <a:lstStyle/>
          <a:p>
            <a:pPr algn="l" indent="0" marL="0">
              <a:lnSpc>
                <a:spcPct val="88000"/>
              </a:lnSpc>
              <a:buNone/>
            </a:pPr>
            <a:r>
              <a:rPr lang="en-US" sz="3400" spc="-68" kern="100" dirty="0">
                <a:solidFill>
                  <a:srgbClr val="030303"/>
                </a:solidFill>
                <a:latin typeface="DM Sans SemiBold" pitchFamily="34" charset="0"/>
                <a:ea typeface="DM Sans SemiBold" pitchFamily="34" charset="-122"/>
                <a:cs typeface="DM Sans SemiBold" pitchFamily="34" charset="-120"/>
              </a:rPr>
              <a:t>Discounts attract high-value orders, but dependence is uneven</a:t>
            </a:r>
            <a:endParaRPr lang="en-US" sz="3400" dirty="0"/>
          </a:p>
        </p:txBody>
      </p:sp>
      <p:pic>
        <p:nvPicPr>
          <p:cNvPr id="6" name="Image 0" descr="preencoded.png">    </p:cNvPr>
          <p:cNvPicPr>
            <a:picLocks noChangeAspect="1"/>
          </p:cNvPicPr>
          <p:nvPr/>
        </p:nvPicPr>
        <p:blipFill>
          <a:blip r:embed="rId1"/>
          <a:stretch>
            <a:fillRect/>
          </a:stretch>
        </p:blipFill>
        <p:spPr>
          <a:xfrm>
            <a:off x="609585" y="2739430"/>
            <a:ext cx="6934027" cy="2724150"/>
          </a:xfrm>
          <a:prstGeom prst="rect">
            <a:avLst/>
          </a:prstGeom>
        </p:spPr>
      </p:pic>
      <p:sp>
        <p:nvSpPr>
          <p:cNvPr id="7" name="Text 4"/>
          <p:cNvSpPr/>
          <p:nvPr/>
        </p:nvSpPr>
        <p:spPr>
          <a:xfrm>
            <a:off x="609585" y="5547003"/>
            <a:ext cx="6934027" cy="462756"/>
          </a:xfrm>
          <a:prstGeom prst="rect">
            <a:avLst/>
          </a:prstGeom>
          <a:noFill/>
          <a:ln/>
        </p:spPr>
        <p:txBody>
          <a:bodyPr wrap="square" lIns="0" tIns="0" rIns="0" bIns="0" rtlCol="0" anchor="t">
            <a:normAutofit/>
          </a:bodyPr>
          <a:lstStyle/>
          <a:p>
            <a:pPr algn="l" indent="0" marL="0">
              <a:lnSpc>
                <a:spcPct val="113000"/>
              </a:lnSpc>
              <a:buNone/>
            </a:pPr>
            <a:r>
              <a:rPr lang="en-US" sz="1350" spc="13" kern="100" dirty="0">
                <a:solidFill>
                  <a:srgbClr val="666666"/>
                </a:solidFill>
                <a:latin typeface="Inter Medium" pitchFamily="34" charset="0"/>
                <a:ea typeface="Inter Medium" pitchFamily="34" charset="-122"/>
                <a:cs typeface="Inter Medium" pitchFamily="34" charset="-120"/>
              </a:rPr>
              <a:t>Discount rate for the most promotion-dependent products: hat, sneakers, coat, sweater, and pants, from 47% to 50%.</a:t>
            </a:r>
            <a:endParaRPr lang="en-US" sz="1350" dirty="0"/>
          </a:p>
        </p:txBody>
      </p:sp>
      <p:sp>
        <p:nvSpPr>
          <p:cNvPr id="8" name="Shape 5"/>
          <p:cNvSpPr/>
          <p:nvPr/>
        </p:nvSpPr>
        <p:spPr>
          <a:xfrm>
            <a:off x="7848304" y="2510830"/>
            <a:ext cx="3733806" cy="3723481"/>
          </a:xfrm>
          <a:prstGeom prst="roundRect">
            <a:avLst>
              <a:gd name="adj" fmla="val 5730"/>
            </a:avLst>
          </a:prstGeom>
          <a:solidFill>
            <a:srgbClr val="EEF7F2"/>
          </a:solidFill>
          <a:ln/>
        </p:spPr>
      </p:sp>
      <p:sp>
        <p:nvSpPr>
          <p:cNvPr id="9" name="Text 6"/>
          <p:cNvSpPr/>
          <p:nvPr/>
        </p:nvSpPr>
        <p:spPr>
          <a:xfrm>
            <a:off x="8076899" y="2859683"/>
            <a:ext cx="3276617" cy="660400"/>
          </a:xfrm>
          <a:prstGeom prst="rect">
            <a:avLst/>
          </a:prstGeom>
          <a:noFill/>
          <a:ln/>
        </p:spPr>
        <p:txBody>
          <a:bodyPr wrap="none" lIns="0" tIns="0" rIns="0" bIns="0" rtlCol="0" anchor="t"/>
          <a:lstStyle/>
          <a:p>
            <a:pPr algn="l" indent="0" marL="0">
              <a:lnSpc>
                <a:spcPct val="83000"/>
              </a:lnSpc>
              <a:buNone/>
            </a:pPr>
            <a:r>
              <a:rPr lang="en-US" sz="5200" spc="-182" kern="100" dirty="0">
                <a:solidFill>
                  <a:srgbClr val="127A53"/>
                </a:solidFill>
                <a:latin typeface="DM Sans SemiBold" pitchFamily="34" charset="0"/>
                <a:ea typeface="DM Sans SemiBold" pitchFamily="34" charset="-122"/>
                <a:cs typeface="DM Sans SemiBold" pitchFamily="34" charset="-120"/>
              </a:rPr>
              <a:t>839</a:t>
            </a:r>
            <a:endParaRPr lang="en-US" sz="5200" dirty="0"/>
          </a:p>
        </p:txBody>
      </p:sp>
      <p:sp>
        <p:nvSpPr>
          <p:cNvPr id="10" name="Text 7"/>
          <p:cNvSpPr/>
          <p:nvPr/>
        </p:nvSpPr>
        <p:spPr>
          <a:xfrm>
            <a:off x="8076899" y="3657481"/>
            <a:ext cx="3276617" cy="694134"/>
          </a:xfrm>
          <a:prstGeom prst="rect">
            <a:avLst/>
          </a:prstGeom>
          <a:noFill/>
          <a:ln/>
        </p:spPr>
        <p:txBody>
          <a:bodyPr wrap="square" lIns="0" tIns="0" rIns="0" bIns="0" rtlCol="0" anchor="t">
            <a:normAutofit/>
          </a:bodyPr>
          <a:lstStyle/>
          <a:p>
            <a:pPr algn="l" indent="0" marL="0">
              <a:lnSpc>
                <a:spcPct val="113000"/>
              </a:lnSpc>
              <a:buNone/>
            </a:pPr>
            <a:r>
              <a:rPr lang="en-US" sz="1350" spc="13" kern="100" dirty="0">
                <a:solidFill>
                  <a:srgbClr val="464646"/>
                </a:solidFill>
                <a:latin typeface="Inter Medium" pitchFamily="34" charset="0"/>
                <a:ea typeface="Inter Medium" pitchFamily="34" charset="-122"/>
                <a:cs typeface="Inter Medium" pitchFamily="34" charset="-120"/>
              </a:rPr>
              <a:t>customers used discounts while spending above the average purchase amount</a:t>
            </a:r>
            <a:endParaRPr lang="en-US" sz="1350" dirty="0"/>
          </a:p>
        </p:txBody>
      </p:sp>
      <p:sp>
        <p:nvSpPr>
          <p:cNvPr id="11" name="Shape 8"/>
          <p:cNvSpPr/>
          <p:nvPr/>
        </p:nvSpPr>
        <p:spPr>
          <a:xfrm>
            <a:off x="8076899" y="4490442"/>
            <a:ext cx="126898" cy="38100"/>
          </a:xfrm>
          <a:prstGeom prst="roundRect">
            <a:avLst>
              <a:gd name="adj" fmla="val 49999"/>
            </a:avLst>
          </a:prstGeom>
          <a:solidFill>
            <a:srgbClr val="1C9768"/>
          </a:solidFill>
          <a:ln/>
        </p:spPr>
      </p:sp>
      <p:sp>
        <p:nvSpPr>
          <p:cNvPr id="12" name="Text 9"/>
          <p:cNvSpPr/>
          <p:nvPr/>
        </p:nvSpPr>
        <p:spPr>
          <a:xfrm>
            <a:off x="8076899" y="4770795"/>
            <a:ext cx="3276617" cy="1188541"/>
          </a:xfrm>
          <a:prstGeom prst="rect">
            <a:avLst/>
          </a:prstGeom>
          <a:noFill/>
          <a:ln/>
        </p:spPr>
        <p:txBody>
          <a:bodyPr wrap="square" lIns="0" tIns="0" rIns="0" bIns="0" rtlCol="0" anchor="t">
            <a:normAutofit/>
          </a:bodyPr>
          <a:lstStyle/>
          <a:p>
            <a:pPr algn="l" indent="0" marL="0">
              <a:lnSpc>
                <a:spcPct val="108000"/>
              </a:lnSpc>
              <a:buNone/>
            </a:pPr>
            <a:r>
              <a:rPr lang="en-US" sz="2400" spc="-12" kern="100" dirty="0">
                <a:solidFill>
                  <a:srgbClr val="464646"/>
                </a:solidFill>
                <a:latin typeface="Inter Medium" pitchFamily="34" charset="0"/>
                <a:ea typeface="Inter Medium" pitchFamily="34" charset="-122"/>
                <a:cs typeface="Inter Medium" pitchFamily="34" charset="-120"/>
              </a:rPr>
              <a:t>Distinguish profitable promotion from discount dependency.</a:t>
            </a:r>
            <a:endParaRPr lang="en-US" sz="2400" dirty="0"/>
          </a:p>
        </p:txBody>
      </p:sp>
      <p:sp>
        <p:nvSpPr>
          <p:cNvPr id="13" name="Shape 10"/>
          <p:cNvSpPr/>
          <p:nvPr/>
        </p:nvSpPr>
        <p:spPr>
          <a:xfrm>
            <a:off x="0" y="6553200"/>
            <a:ext cx="12191695" cy="304800"/>
          </a:xfrm>
          <a:prstGeom prst="rect">
            <a:avLst/>
          </a:prstGeom>
          <a:solidFill>
            <a:srgbClr val="FFFFFF"/>
          </a:solidFill>
          <a:ln/>
        </p:spPr>
      </p:sp>
      <p:sp>
        <p:nvSpPr>
          <p:cNvPr id="14" name="Text 11"/>
          <p:cNvSpPr/>
          <p:nvPr/>
        </p:nvSpPr>
        <p:spPr>
          <a:xfrm>
            <a:off x="11358874" y="6583859"/>
            <a:ext cx="832821" cy="243384"/>
          </a:xfrm>
          <a:prstGeom prst="rect">
            <a:avLst/>
          </a:prstGeom>
          <a:noFill/>
          <a:ln/>
        </p:spPr>
        <p:txBody>
          <a:bodyPr wrap="none" lIns="0" tIns="0" rIns="0" bIns="0" rtlCol="0" anchor="ctr"/>
          <a:lstStyle/>
          <a:p>
            <a:pPr algn="l" indent="0" marL="0">
              <a:lnSpc>
                <a:spcPct val="118000"/>
              </a:lnSpc>
              <a:buNone/>
            </a:pPr>
            <a:r>
              <a:rPr lang="en-US" sz="1350" dirty="0">
                <a:solidFill>
                  <a:srgbClr val="000000"/>
                </a:solidFill>
                <a:latin typeface="Inter Medium" pitchFamily="34" charset="0"/>
                <a:ea typeface="Inter Medium" pitchFamily="34" charset="-122"/>
                <a:cs typeface="Inter Medium" pitchFamily="34" charset="-120"/>
              </a:rPr>
              <a:t>04</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0"/>
            <a:ext cx="3657509" cy="486767"/>
          </a:xfrm>
          <a:prstGeom prst="rect">
            <a:avLst/>
          </a:prstGeom>
          <a:noFill/>
          <a:ln/>
        </p:spPr>
        <p:txBody>
          <a:bodyPr wrap="square" lIns="0" tIns="0" rIns="0" bIns="0" rtlCol="0" anchor="ctr">
            <a:normAutofit/>
          </a:bodyPr>
          <a:lstStyle/>
          <a:p>
            <a:pPr algn="l" indent="0" marL="0">
              <a:lnSpc>
                <a:spcPct val="118000"/>
              </a:lnSpc>
              <a:buNone/>
            </a:pPr>
            <a:r>
              <a:rPr lang="en-US" sz="1350" dirty="0">
                <a:solidFill>
                  <a:srgbClr val="1C9768"/>
                </a:solidFill>
                <a:latin typeface="Inter Medium" pitchFamily="34" charset="0"/>
                <a:ea typeface="Inter Medium" pitchFamily="34" charset="-122"/>
                <a:cs typeface="Inter Medium" pitchFamily="34" charset="-120"/>
              </a:rPr>
              <a:t>Customer shopping behavior: the data behind the next growth move</a:t>
            </a:r>
            <a:endParaRPr lang="en-US" sz="1350" dirty="0"/>
          </a:p>
        </p:txBody>
      </p:sp>
      <p:sp>
        <p:nvSpPr>
          <p:cNvPr id="3" name="Shape 1"/>
          <p:cNvSpPr/>
          <p:nvPr/>
        </p:nvSpPr>
        <p:spPr>
          <a:xfrm>
            <a:off x="0" y="477242"/>
            <a:ext cx="12191695" cy="9525"/>
          </a:xfrm>
          <a:prstGeom prst="rect">
            <a:avLst/>
          </a:prstGeom>
          <a:solidFill>
            <a:srgbClr val="1C9768">
              <a:alpha val="20000"/>
            </a:srgbClr>
          </a:solidFill>
          <a:ln/>
        </p:spPr>
      </p:sp>
      <p:sp>
        <p:nvSpPr>
          <p:cNvPr id="4" name="Text 2"/>
          <p:cNvSpPr/>
          <p:nvPr/>
        </p:nvSpPr>
        <p:spPr>
          <a:xfrm>
            <a:off x="609585" y="1102558"/>
            <a:ext cx="11582110" cy="222845"/>
          </a:xfrm>
          <a:prstGeom prst="rect">
            <a:avLst/>
          </a:prstGeom>
          <a:noFill/>
          <a:ln/>
        </p:spPr>
        <p:txBody>
          <a:bodyPr wrap="none" lIns="0" tIns="0" rIns="0" bIns="0" rtlCol="0" anchor="t"/>
          <a:lstStyle/>
          <a:p>
            <a:pPr algn="l" indent="0" marL="0">
              <a:lnSpc>
                <a:spcPct val="108000"/>
              </a:lnSpc>
              <a:buNone/>
            </a:pPr>
            <a:r>
              <a:rPr lang="en-US" sz="1350" spc="108" kern="100" dirty="0">
                <a:solidFill>
                  <a:srgbClr val="666666"/>
                </a:solidFill>
                <a:latin typeface="Inter SemiBold" pitchFamily="34" charset="0"/>
                <a:ea typeface="Inter SemiBold" pitchFamily="34" charset="-122"/>
                <a:cs typeface="Inter SemiBold" pitchFamily="34" charset="-120"/>
              </a:rPr>
              <a:t>SUBSCRIPTION SIGNAL</a:t>
            </a:r>
            <a:endParaRPr lang="en-US" sz="1350" dirty="0"/>
          </a:p>
        </p:txBody>
      </p:sp>
      <p:sp>
        <p:nvSpPr>
          <p:cNvPr id="5" name="Text 3"/>
          <p:cNvSpPr/>
          <p:nvPr/>
        </p:nvSpPr>
        <p:spPr>
          <a:xfrm>
            <a:off x="609585" y="1431798"/>
            <a:ext cx="10972526" cy="915392"/>
          </a:xfrm>
          <a:prstGeom prst="rect">
            <a:avLst/>
          </a:prstGeom>
          <a:noFill/>
          <a:ln/>
        </p:spPr>
        <p:txBody>
          <a:bodyPr wrap="square" lIns="0" tIns="0" rIns="0" bIns="0" rtlCol="0" anchor="t">
            <a:normAutofit/>
          </a:bodyPr>
          <a:lstStyle/>
          <a:p>
            <a:pPr algn="l" indent="0" marL="0">
              <a:lnSpc>
                <a:spcPct val="88000"/>
              </a:lnSpc>
              <a:buNone/>
            </a:pPr>
            <a:r>
              <a:rPr lang="en-US" sz="3400" spc="-68" kern="100" dirty="0">
                <a:solidFill>
                  <a:srgbClr val="030303"/>
                </a:solidFill>
                <a:latin typeface="DM Sans SemiBold" pitchFamily="34" charset="0"/>
                <a:ea typeface="DM Sans SemiBold" pitchFamily="34" charset="-122"/>
                <a:cs typeface="DM Sans SemiBold" pitchFamily="34" charset="-120"/>
              </a:rPr>
              <a:t>Subscriptions have reach, but not a spend advantage yet</a:t>
            </a:r>
            <a:endParaRPr lang="en-US" sz="3400" dirty="0"/>
          </a:p>
        </p:txBody>
      </p:sp>
      <p:sp>
        <p:nvSpPr>
          <p:cNvPr id="6" name="Shape 4"/>
          <p:cNvSpPr/>
          <p:nvPr/>
        </p:nvSpPr>
        <p:spPr>
          <a:xfrm>
            <a:off x="609585" y="2510830"/>
            <a:ext cx="5333867" cy="2874268"/>
          </a:xfrm>
          <a:prstGeom prst="roundRect">
            <a:avLst>
              <a:gd name="adj" fmla="val 7423"/>
            </a:avLst>
          </a:prstGeom>
          <a:solidFill>
            <a:srgbClr val="EEF7F2"/>
          </a:solidFill>
          <a:ln/>
        </p:spPr>
      </p:sp>
      <p:sp>
        <p:nvSpPr>
          <p:cNvPr id="7" name="Text 5"/>
          <p:cNvSpPr/>
          <p:nvPr/>
        </p:nvSpPr>
        <p:spPr>
          <a:xfrm>
            <a:off x="838179" y="2749907"/>
            <a:ext cx="4876678" cy="396180"/>
          </a:xfrm>
          <a:prstGeom prst="rect">
            <a:avLst/>
          </a:prstGeom>
          <a:noFill/>
          <a:ln/>
        </p:spPr>
        <p:txBody>
          <a:bodyPr wrap="none" lIns="0" tIns="0" rIns="0" bIns="0" rtlCol="0" anchor="t"/>
          <a:lstStyle/>
          <a:p>
            <a:pPr algn="l" indent="0" marL="0">
              <a:lnSpc>
                <a:spcPct val="108000"/>
              </a:lnSpc>
              <a:buNone/>
            </a:pPr>
            <a:r>
              <a:rPr lang="en-US" sz="2400" spc="-12" kern="100" dirty="0">
                <a:solidFill>
                  <a:srgbClr val="464646"/>
                </a:solidFill>
                <a:latin typeface="Inter Medium" pitchFamily="34" charset="0"/>
                <a:ea typeface="Inter Medium" pitchFamily="34" charset="-122"/>
                <a:cs typeface="Inter Medium" pitchFamily="34" charset="-120"/>
              </a:rPr>
              <a:t>Customer reach</a:t>
            </a:r>
            <a:endParaRPr lang="en-US" sz="2400" dirty="0"/>
          </a:p>
        </p:txBody>
      </p:sp>
      <p:pic>
        <p:nvPicPr>
          <p:cNvPr id="8" name="Image 0" descr="preencoded.png">    </p:cNvPr>
          <p:cNvPicPr>
            <a:picLocks noChangeAspect="1"/>
          </p:cNvPicPr>
          <p:nvPr/>
        </p:nvPicPr>
        <p:blipFill>
          <a:blip r:embed="rId1"/>
          <a:stretch>
            <a:fillRect/>
          </a:stretch>
        </p:blipFill>
        <p:spPr>
          <a:xfrm>
            <a:off x="838179" y="3249910"/>
            <a:ext cx="3682908" cy="1906588"/>
          </a:xfrm>
          <a:prstGeom prst="rect">
            <a:avLst/>
          </a:prstGeom>
        </p:spPr>
      </p:pic>
      <p:sp>
        <p:nvSpPr>
          <p:cNvPr id="9" name="Shape 6"/>
          <p:cNvSpPr/>
          <p:nvPr/>
        </p:nvSpPr>
        <p:spPr>
          <a:xfrm>
            <a:off x="6248244" y="2510830"/>
            <a:ext cx="5333867" cy="2874268"/>
          </a:xfrm>
          <a:prstGeom prst="roundRect">
            <a:avLst>
              <a:gd name="adj" fmla="val 7423"/>
            </a:avLst>
          </a:prstGeom>
          <a:solidFill>
            <a:srgbClr val="EEF7F2"/>
          </a:solidFill>
          <a:ln/>
        </p:spPr>
      </p:sp>
      <p:sp>
        <p:nvSpPr>
          <p:cNvPr id="10" name="Text 7"/>
          <p:cNvSpPr/>
          <p:nvPr/>
        </p:nvSpPr>
        <p:spPr>
          <a:xfrm>
            <a:off x="6476838" y="2749907"/>
            <a:ext cx="4876678" cy="396180"/>
          </a:xfrm>
          <a:prstGeom prst="rect">
            <a:avLst/>
          </a:prstGeom>
          <a:noFill/>
          <a:ln/>
        </p:spPr>
        <p:txBody>
          <a:bodyPr wrap="none" lIns="0" tIns="0" rIns="0" bIns="0" rtlCol="0" anchor="t"/>
          <a:lstStyle/>
          <a:p>
            <a:pPr algn="l" indent="0" marL="0">
              <a:lnSpc>
                <a:spcPct val="108000"/>
              </a:lnSpc>
              <a:buNone/>
            </a:pPr>
            <a:r>
              <a:rPr lang="en-US" sz="2400" spc="-12" kern="100" dirty="0">
                <a:solidFill>
                  <a:srgbClr val="464646"/>
                </a:solidFill>
                <a:latin typeface="Inter Medium" pitchFamily="34" charset="0"/>
                <a:ea typeface="Inter Medium" pitchFamily="34" charset="-122"/>
                <a:cs typeface="Inter Medium" pitchFamily="34" charset="-120"/>
              </a:rPr>
              <a:t>Average spend</a:t>
            </a:r>
            <a:endParaRPr lang="en-US" sz="2400" dirty="0"/>
          </a:p>
        </p:txBody>
      </p:sp>
      <p:pic>
        <p:nvPicPr>
          <p:cNvPr id="11" name="Image 1" descr="preencoded.png">    </p:cNvPr>
          <p:cNvPicPr>
            <a:picLocks noChangeAspect="1"/>
          </p:cNvPicPr>
          <p:nvPr/>
        </p:nvPicPr>
        <p:blipFill>
          <a:blip r:embed="rId2"/>
          <a:stretch>
            <a:fillRect/>
          </a:stretch>
        </p:blipFill>
        <p:spPr>
          <a:xfrm>
            <a:off x="6476838" y="3249910"/>
            <a:ext cx="3682908" cy="1906588"/>
          </a:xfrm>
          <a:prstGeom prst="rect">
            <a:avLst/>
          </a:prstGeom>
        </p:spPr>
      </p:pic>
      <p:sp>
        <p:nvSpPr>
          <p:cNvPr id="12" name="Text 8"/>
          <p:cNvSpPr/>
          <p:nvPr/>
        </p:nvSpPr>
        <p:spPr>
          <a:xfrm>
            <a:off x="609585" y="5566946"/>
            <a:ext cx="10972526" cy="462756"/>
          </a:xfrm>
          <a:prstGeom prst="rect">
            <a:avLst/>
          </a:prstGeom>
          <a:noFill/>
          <a:ln/>
        </p:spPr>
        <p:txBody>
          <a:bodyPr wrap="square" lIns="0" tIns="0" rIns="0" bIns="0" rtlCol="0" anchor="t">
            <a:normAutofit/>
          </a:bodyPr>
          <a:lstStyle/>
          <a:p>
            <a:pPr algn="l" indent="0" marL="0">
              <a:lnSpc>
                <a:spcPct val="113000"/>
              </a:lnSpc>
              <a:buNone/>
            </a:pPr>
            <a:r>
              <a:rPr lang="en-US" sz="1350" spc="13" kern="100" dirty="0">
                <a:solidFill>
                  <a:srgbClr val="666666"/>
                </a:solidFill>
                <a:latin typeface="Inter Medium" pitchFamily="34" charset="0"/>
                <a:ea typeface="Inter Medium" pitchFamily="34" charset="-122"/>
                <a:cs typeface="Inter Medium" pitchFamily="34" charset="-120"/>
              </a:rPr>
              <a:t>Subscribers: 27%; non-subscribers: 73%. Average spend: $59.49 for subscribers versus $59.87 for non-subscribers. Repeat buyers: 2,518 non-subscribers versus 958 subscribers.</a:t>
            </a:r>
            <a:endParaRPr lang="en-US" sz="1350" dirty="0"/>
          </a:p>
        </p:txBody>
      </p:sp>
      <p:sp>
        <p:nvSpPr>
          <p:cNvPr id="13" name="Shape 9"/>
          <p:cNvSpPr/>
          <p:nvPr/>
        </p:nvSpPr>
        <p:spPr>
          <a:xfrm>
            <a:off x="0" y="6553200"/>
            <a:ext cx="12191695" cy="304800"/>
          </a:xfrm>
          <a:prstGeom prst="rect">
            <a:avLst/>
          </a:prstGeom>
          <a:solidFill>
            <a:srgbClr val="FFFFFF"/>
          </a:solidFill>
          <a:ln/>
        </p:spPr>
      </p:sp>
      <p:sp>
        <p:nvSpPr>
          <p:cNvPr id="14" name="Text 10"/>
          <p:cNvSpPr/>
          <p:nvPr/>
        </p:nvSpPr>
        <p:spPr>
          <a:xfrm>
            <a:off x="11368002" y="6583859"/>
            <a:ext cx="823693" cy="243384"/>
          </a:xfrm>
          <a:prstGeom prst="rect">
            <a:avLst/>
          </a:prstGeom>
          <a:noFill/>
          <a:ln/>
        </p:spPr>
        <p:txBody>
          <a:bodyPr wrap="none" lIns="0" tIns="0" rIns="0" bIns="0" rtlCol="0" anchor="ctr"/>
          <a:lstStyle/>
          <a:p>
            <a:pPr algn="l" indent="0" marL="0">
              <a:lnSpc>
                <a:spcPct val="118000"/>
              </a:lnSpc>
              <a:buNone/>
            </a:pPr>
            <a:r>
              <a:rPr lang="en-US" sz="1350" dirty="0">
                <a:solidFill>
                  <a:srgbClr val="000000"/>
                </a:solidFill>
                <a:latin typeface="Inter Medium" pitchFamily="34" charset="0"/>
                <a:ea typeface="Inter Medium" pitchFamily="34" charset="-122"/>
                <a:cs typeface="Inter Medium" pitchFamily="34" charset="-120"/>
              </a:rPr>
              <a:t>05</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0"/>
            <a:ext cx="3657509" cy="486767"/>
          </a:xfrm>
          <a:prstGeom prst="rect">
            <a:avLst/>
          </a:prstGeom>
          <a:noFill/>
          <a:ln/>
        </p:spPr>
        <p:txBody>
          <a:bodyPr wrap="square" lIns="0" tIns="0" rIns="0" bIns="0" rtlCol="0" anchor="ctr">
            <a:normAutofit/>
          </a:bodyPr>
          <a:lstStyle/>
          <a:p>
            <a:pPr algn="l" indent="0" marL="0">
              <a:lnSpc>
                <a:spcPct val="118000"/>
              </a:lnSpc>
              <a:buNone/>
            </a:pPr>
            <a:r>
              <a:rPr lang="en-US" sz="1350" dirty="0">
                <a:solidFill>
                  <a:srgbClr val="1C9768"/>
                </a:solidFill>
                <a:latin typeface="Inter Medium" pitchFamily="34" charset="0"/>
                <a:ea typeface="Inter Medium" pitchFamily="34" charset="-122"/>
                <a:cs typeface="Inter Medium" pitchFamily="34" charset="-120"/>
              </a:rPr>
              <a:t>Customer shopping behavior: the data behind the next growth move</a:t>
            </a:r>
            <a:endParaRPr lang="en-US" sz="1350" dirty="0"/>
          </a:p>
        </p:txBody>
      </p:sp>
      <p:sp>
        <p:nvSpPr>
          <p:cNvPr id="3" name="Shape 1"/>
          <p:cNvSpPr/>
          <p:nvPr/>
        </p:nvSpPr>
        <p:spPr>
          <a:xfrm>
            <a:off x="0" y="477242"/>
            <a:ext cx="12191695" cy="9525"/>
          </a:xfrm>
          <a:prstGeom prst="rect">
            <a:avLst/>
          </a:prstGeom>
          <a:solidFill>
            <a:srgbClr val="1C9768">
              <a:alpha val="20000"/>
            </a:srgbClr>
          </a:solidFill>
          <a:ln/>
        </p:spPr>
      </p:sp>
      <p:sp>
        <p:nvSpPr>
          <p:cNvPr id="4" name="Text 2"/>
          <p:cNvSpPr/>
          <p:nvPr/>
        </p:nvSpPr>
        <p:spPr>
          <a:xfrm>
            <a:off x="609585" y="1102558"/>
            <a:ext cx="7315017" cy="222845"/>
          </a:xfrm>
          <a:prstGeom prst="rect">
            <a:avLst/>
          </a:prstGeom>
          <a:noFill/>
          <a:ln/>
        </p:spPr>
        <p:txBody>
          <a:bodyPr wrap="none" lIns="0" tIns="0" rIns="0" bIns="0" rtlCol="0" anchor="t"/>
          <a:lstStyle/>
          <a:p>
            <a:pPr algn="l" indent="0" marL="0">
              <a:lnSpc>
                <a:spcPct val="108000"/>
              </a:lnSpc>
              <a:buNone/>
            </a:pPr>
            <a:r>
              <a:rPr lang="en-US" sz="1350" spc="108" kern="100" dirty="0">
                <a:solidFill>
                  <a:srgbClr val="666666"/>
                </a:solidFill>
                <a:latin typeface="Inter SemiBold" pitchFamily="34" charset="0"/>
                <a:ea typeface="Inter SemiBold" pitchFamily="34" charset="-122"/>
                <a:cs typeface="Inter SemiBold" pitchFamily="34" charset="-120"/>
              </a:rPr>
              <a:t>MERCHANDISING SIGNALS</a:t>
            </a:r>
            <a:endParaRPr lang="en-US" sz="1350" dirty="0"/>
          </a:p>
        </p:txBody>
      </p:sp>
      <p:sp>
        <p:nvSpPr>
          <p:cNvPr id="5" name="Text 3"/>
          <p:cNvSpPr/>
          <p:nvPr/>
        </p:nvSpPr>
        <p:spPr>
          <a:xfrm>
            <a:off x="609585" y="1431798"/>
            <a:ext cx="6705432" cy="915392"/>
          </a:xfrm>
          <a:prstGeom prst="rect">
            <a:avLst/>
          </a:prstGeom>
          <a:noFill/>
          <a:ln/>
        </p:spPr>
        <p:txBody>
          <a:bodyPr wrap="square" lIns="0" tIns="0" rIns="0" bIns="0" rtlCol="0" anchor="t">
            <a:normAutofit/>
          </a:bodyPr>
          <a:lstStyle/>
          <a:p>
            <a:pPr algn="l" indent="0" marL="0">
              <a:lnSpc>
                <a:spcPct val="88000"/>
              </a:lnSpc>
              <a:buNone/>
            </a:pPr>
            <a:r>
              <a:rPr lang="en-US" sz="3400" spc="-68" kern="100" dirty="0">
                <a:solidFill>
                  <a:srgbClr val="030303"/>
                </a:solidFill>
                <a:latin typeface="DM Sans SemiBold" pitchFamily="34" charset="0"/>
                <a:ea typeface="DM Sans SemiBold" pitchFamily="34" charset="-122"/>
                <a:cs typeface="DM Sans SemiBold" pitchFamily="34" charset="-120"/>
              </a:rPr>
              <a:t>Product signals are strong enough to guide merchandising</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9585" y="2510830"/>
          <a:ext cx="6705432" cy="914400"/>
        </p:xfrm>
        <a:graphic>
          <a:graphicData uri="http://schemas.openxmlformats.org/drawingml/2006/table">
            <a:tbl>
              <a:tblPr/>
              <a:tblGrid>
                <a:gridCol w="2682113"/>
                <a:gridCol w="4023319"/>
              </a:tblGrid>
              <a:tr h="611271">
                <a:tc>
                  <a:txBody>
                    <a:bodyPr/>
                    <a:lstStyle/>
                    <a:p>
                      <a:pPr algn="l" indent="0" marL="0">
                        <a:buNone/>
                      </a:pPr>
                      <a:r>
                        <a:rPr lang="en-US" sz="1700" dirty="0">
                          <a:solidFill>
                            <a:srgbClr val="030303"/>
                          </a:solidFill>
                          <a:latin typeface="Inter Medium" pitchFamily="34" charset="0"/>
                          <a:ea typeface="Inter Medium" pitchFamily="34" charset="-122"/>
                          <a:cs typeface="Inter Medium" pitchFamily="34" charset="-120"/>
                        </a:rPr>
                        <a:t>Signal</a:t>
                      </a:r>
                      <a:endParaRPr lang="en-US" sz="1700" dirty="0">
                        <a:latin typeface="Inter Medium" charset="0"/>
                        <a:ea typeface="Inter Medium" charset="0"/>
                        <a:cs typeface="Inter Medium" charset="0"/>
                      </a:endParaRPr>
                    </a:p>
                  </a:txBody>
                  <a:tcPr marL="152396" marR="152396" marT="139697" marB="13969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1C9768"/>
                      </a:solidFill>
                      <a:prstDash val="solid"/>
                      <a:round/>
                      <a:headEnd type="none" w="med" len="med"/>
                      <a:tailEnd type="none" w="med" len="med"/>
                    </a:lnB>
                  </a:tcPr>
                </a:tc>
                <a:tc>
                  <a:txBody>
                    <a:bodyPr/>
                    <a:lstStyle/>
                    <a:p>
                      <a:pPr algn="l" indent="0" marL="0">
                        <a:buNone/>
                      </a:pPr>
                      <a:r>
                        <a:rPr lang="en-US" sz="1700" dirty="0">
                          <a:solidFill>
                            <a:srgbClr val="030303"/>
                          </a:solidFill>
                          <a:latin typeface="Inter Medium" pitchFamily="34" charset="0"/>
                          <a:ea typeface="Inter Medium" pitchFamily="34" charset="-122"/>
                          <a:cs typeface="Inter Medium" pitchFamily="34" charset="-120"/>
                        </a:rPr>
                        <a:t>Evidence</a:t>
                      </a:r>
                      <a:endParaRPr lang="en-US" sz="1700" dirty="0">
                        <a:latin typeface="Inter Medium" charset="0"/>
                        <a:ea typeface="Inter Medium" charset="0"/>
                        <a:cs typeface="Inter Medium" charset="0"/>
                      </a:endParaRPr>
                    </a:p>
                  </a:txBody>
                  <a:tcPr marL="152396" marR="152396" marT="139697" marB="13969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1C9768"/>
                      </a:solidFill>
                      <a:prstDash val="solid"/>
                      <a:round/>
                      <a:headEnd type="none" w="med" len="med"/>
                      <a:tailEnd type="none" w="med" len="med"/>
                    </a:lnB>
                  </a:tcPr>
                </a:tc>
              </a:tr>
              <a:tr h="898701">
                <a:tc>
                  <a:txBody>
                    <a:bodyPr/>
                    <a:lstStyle/>
                    <a:p>
                      <a:pPr algn="l" indent="0" marL="0">
                        <a:buNone/>
                      </a:pPr>
                      <a:r>
                        <a:rPr lang="en-US" sz="1700" dirty="0">
                          <a:solidFill>
                            <a:srgbClr val="464646"/>
                          </a:solidFill>
                          <a:latin typeface="Inter Medium" pitchFamily="34" charset="0"/>
                          <a:ea typeface="Inter Medium" pitchFamily="34" charset="-122"/>
                          <a:cs typeface="Inter Medium" pitchFamily="34" charset="-120"/>
                        </a:rPr>
                        <a:t>Top-rated products</a:t>
                      </a:r>
                      <a:endParaRPr lang="en-US" sz="1700" dirty="0">
                        <a:latin typeface="Inter Medium" charset="0"/>
                        <a:ea typeface="Inter Medium" charset="0"/>
                        <a:cs typeface="Inter Medium" charset="0"/>
                      </a:endParaRPr>
                    </a:p>
                  </a:txBody>
                  <a:tcPr marL="152396" marR="152396" marT="139697" marB="13969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1C9768"/>
                      </a:solidFill>
                      <a:prstDash val="solid"/>
                      <a:round/>
                      <a:headEnd type="none" w="med" len="med"/>
                      <a:tailEnd type="none" w="med" len="med"/>
                    </a:lnT>
                    <a:lnB w="12700" cap="flat" cmpd="sng" algn="ctr">
                      <a:solidFill>
                        <a:srgbClr val="1C9768"/>
                      </a:solidFill>
                      <a:prstDash val="solid"/>
                      <a:round/>
                      <a:headEnd type="none" w="med" len="med"/>
                      <a:tailEnd type="none" w="med" len="med"/>
                    </a:lnB>
                  </a:tcPr>
                </a:tc>
                <a:tc>
                  <a:txBody>
                    <a:bodyPr/>
                    <a:lstStyle/>
                    <a:p>
                      <a:pPr algn="l" indent="0" marL="0">
                        <a:buNone/>
                      </a:pPr>
                      <a:r>
                        <a:rPr lang="en-US" sz="1700" dirty="0">
                          <a:solidFill>
                            <a:srgbClr val="464646"/>
                          </a:solidFill>
                          <a:latin typeface="Inter Medium" pitchFamily="34" charset="0"/>
                          <a:ea typeface="Inter Medium" pitchFamily="34" charset="-122"/>
                          <a:cs typeface="Inter Medium" pitchFamily="34" charset="-120"/>
                        </a:rPr>
                        <a:t>Gloves 3.86 · Sandals 3.84 · Boots 3.82 · Hat 3.80 · Skirt 3.78</a:t>
                      </a:r>
                      <a:endParaRPr lang="en-US" sz="1700" dirty="0">
                        <a:latin typeface="Inter Medium" charset="0"/>
                        <a:ea typeface="Inter Medium" charset="0"/>
                        <a:cs typeface="Inter Medium" charset="0"/>
                      </a:endParaRPr>
                    </a:p>
                  </a:txBody>
                  <a:tcPr marL="152396" marR="152396" marT="139697" marB="13969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1C9768"/>
                      </a:solidFill>
                      <a:prstDash val="solid"/>
                      <a:round/>
                      <a:headEnd type="none" w="med" len="med"/>
                      <a:tailEnd type="none" w="med" len="med"/>
                    </a:lnT>
                    <a:lnB w="12700" cap="flat" cmpd="sng" algn="ctr">
                      <a:solidFill>
                        <a:srgbClr val="1C9768"/>
                      </a:solidFill>
                      <a:prstDash val="solid"/>
                      <a:round/>
                      <a:headEnd type="none" w="med" len="med"/>
                      <a:tailEnd type="none" w="med" len="med"/>
                    </a:lnB>
                  </a:tcPr>
                </a:tc>
              </a:tr>
              <a:tr h="592222">
                <a:tc>
                  <a:txBody>
                    <a:bodyPr/>
                    <a:lstStyle/>
                    <a:p>
                      <a:pPr algn="l" indent="0" marL="0">
                        <a:buNone/>
                      </a:pPr>
                      <a:r>
                        <a:rPr lang="en-US" sz="1700" dirty="0">
                          <a:solidFill>
                            <a:srgbClr val="464646"/>
                          </a:solidFill>
                          <a:latin typeface="Inter Medium" pitchFamily="34" charset="0"/>
                          <a:ea typeface="Inter Medium" pitchFamily="34" charset="-122"/>
                          <a:cs typeface="Inter Medium" pitchFamily="34" charset="-120"/>
                        </a:rPr>
                        <a:t>Best-selling examples</a:t>
                      </a:r>
                      <a:endParaRPr lang="en-US" sz="1700" dirty="0">
                        <a:latin typeface="Inter Medium" charset="0"/>
                        <a:ea typeface="Inter Medium" charset="0"/>
                        <a:cs typeface="Inter Medium" charset="0"/>
                      </a:endParaRPr>
                    </a:p>
                  </a:txBody>
                  <a:tcPr marL="152396" marR="152396" marT="139697" marB="13969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1C9768"/>
                      </a:solidFill>
                      <a:prstDash val="solid"/>
                      <a:round/>
                      <a:headEnd type="none" w="med" len="med"/>
                      <a:tailEnd type="none" w="med" len="med"/>
                    </a:lnT>
                    <a:lnB w="12700" cap="flat" cmpd="sng" algn="ctr">
                      <a:solidFill>
                        <a:srgbClr val="1C9768"/>
                      </a:solidFill>
                      <a:prstDash val="solid"/>
                      <a:round/>
                      <a:headEnd type="none" w="med" len="med"/>
                      <a:tailEnd type="none" w="med" len="med"/>
                    </a:lnB>
                  </a:tcPr>
                </a:tc>
                <a:tc>
                  <a:txBody>
                    <a:bodyPr/>
                    <a:lstStyle/>
                    <a:p>
                      <a:pPr algn="l" indent="0" marL="0">
                        <a:buNone/>
                      </a:pPr>
                      <a:r>
                        <a:rPr lang="en-US" sz="1700" dirty="0">
                          <a:solidFill>
                            <a:srgbClr val="464646"/>
                          </a:solidFill>
                          <a:latin typeface="Inter Medium" pitchFamily="34" charset="0"/>
                          <a:ea typeface="Inter Medium" pitchFamily="34" charset="-122"/>
                          <a:cs typeface="Inter Medium" pitchFamily="34" charset="-120"/>
                        </a:rPr>
                        <a:t>Jewelry · Blouse · Sandals · Jacket</a:t>
                      </a:r>
                      <a:endParaRPr lang="en-US" sz="1700" dirty="0">
                        <a:latin typeface="Inter Medium" charset="0"/>
                        <a:ea typeface="Inter Medium" charset="0"/>
                        <a:cs typeface="Inter Medium" charset="0"/>
                      </a:endParaRPr>
                    </a:p>
                  </a:txBody>
                  <a:tcPr marL="152396" marR="152396" marT="139697" marB="13969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1C9768"/>
                      </a:solidFill>
                      <a:prstDash val="solid"/>
                      <a:round/>
                      <a:headEnd type="none" w="med" len="med"/>
                      <a:tailEnd type="none" w="med" len="med"/>
                    </a:lnT>
                    <a:lnB w="12700" cap="flat" cmpd="sng" algn="ctr">
                      <a:solidFill>
                        <a:srgbClr val="1C9768"/>
                      </a:solidFill>
                      <a:prstDash val="solid"/>
                      <a:round/>
                      <a:headEnd type="none" w="med" len="med"/>
                      <a:tailEnd type="none" w="med" len="med"/>
                    </a:lnB>
                  </a:tcPr>
                </a:tc>
              </a:tr>
              <a:tr h="892351">
                <a:tc>
                  <a:txBody>
                    <a:bodyPr/>
                    <a:lstStyle/>
                    <a:p>
                      <a:pPr algn="l" indent="0" marL="0">
                        <a:buNone/>
                      </a:pPr>
                      <a:r>
                        <a:rPr lang="en-US" sz="1700" dirty="0">
                          <a:solidFill>
                            <a:srgbClr val="464646"/>
                          </a:solidFill>
                          <a:latin typeface="Inter Medium" pitchFamily="34" charset="0"/>
                          <a:ea typeface="Inter Medium" pitchFamily="34" charset="-122"/>
                          <a:cs typeface="Inter Medium" pitchFamily="34" charset="-120"/>
                        </a:rPr>
                        <a:t>Shipping value</a:t>
                      </a:r>
                      <a:endParaRPr lang="en-US" sz="1700" dirty="0">
                        <a:latin typeface="Inter Medium" charset="0"/>
                        <a:ea typeface="Inter Medium" charset="0"/>
                        <a:cs typeface="Inter Medium" charset="0"/>
                      </a:endParaRPr>
                    </a:p>
                  </a:txBody>
                  <a:tcPr marL="152396" marR="152396" marT="139697" marB="13969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1C9768"/>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700" dirty="0">
                          <a:solidFill>
                            <a:srgbClr val="464646"/>
                          </a:solidFill>
                          <a:latin typeface="Inter Medium" pitchFamily="34" charset="0"/>
                          <a:ea typeface="Inter Medium" pitchFamily="34" charset="-122"/>
                          <a:cs typeface="Inter Medium" pitchFamily="34" charset="-120"/>
                        </a:rPr>
                        <a:t>Express shipping $60.48 · Standard shipping $58.46</a:t>
                      </a:r>
                      <a:endParaRPr lang="en-US" sz="1700" dirty="0">
                        <a:latin typeface="Inter Medium" charset="0"/>
                        <a:ea typeface="Inter Medium" charset="0"/>
                        <a:cs typeface="Inter Medium" charset="0"/>
                      </a:endParaRPr>
                    </a:p>
                  </a:txBody>
                  <a:tcPr marL="152396" marR="152396" marT="139697" marB="13969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1C9768"/>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7" name="Text 4"/>
          <p:cNvSpPr/>
          <p:nvPr/>
        </p:nvSpPr>
        <p:spPr>
          <a:xfrm>
            <a:off x="609585" y="5687298"/>
            <a:ext cx="7315017" cy="231378"/>
          </a:xfrm>
          <a:prstGeom prst="rect">
            <a:avLst/>
          </a:prstGeom>
          <a:noFill/>
          <a:ln/>
        </p:spPr>
        <p:txBody>
          <a:bodyPr wrap="none" lIns="0" tIns="0" rIns="0" bIns="0" rtlCol="0" anchor="t"/>
          <a:lstStyle/>
          <a:p>
            <a:pPr algn="l" indent="0" marL="0">
              <a:lnSpc>
                <a:spcPct val="113000"/>
              </a:lnSpc>
              <a:buNone/>
            </a:pPr>
            <a:r>
              <a:rPr lang="en-US" sz="1350" spc="13" kern="100" dirty="0">
                <a:solidFill>
                  <a:srgbClr val="666666"/>
                </a:solidFill>
                <a:latin typeface="Inter Medium" pitchFamily="34" charset="0"/>
                <a:ea typeface="Inter Medium" pitchFamily="34" charset="-122"/>
                <a:cs typeface="Inter Medium" pitchFamily="34" charset="-120"/>
              </a:rPr>
              <a:t>Use ratings, sales examples, and shipping value as merchandising inputs.</a:t>
            </a:r>
            <a:endParaRPr lang="en-US" sz="1350" dirty="0"/>
          </a:p>
        </p:txBody>
      </p:sp>
      <p:pic>
        <p:nvPicPr>
          <p:cNvPr id="8" name="Image 0" descr="preencoded.png">    </p:cNvPr>
          <p:cNvPicPr>
            <a:picLocks noChangeAspect="1"/>
          </p:cNvPicPr>
          <p:nvPr/>
        </p:nvPicPr>
        <p:blipFill>
          <a:blip r:embed="rId1"/>
          <a:stretch>
            <a:fillRect/>
          </a:stretch>
        </p:blipFill>
        <p:spPr>
          <a:xfrm>
            <a:off x="7924602" y="486767"/>
            <a:ext cx="4267093" cy="6066433"/>
          </a:xfrm>
          <a:prstGeom prst="rect">
            <a:avLst/>
          </a:prstGeom>
        </p:spPr>
      </p:pic>
      <p:sp>
        <p:nvSpPr>
          <p:cNvPr id="9" name="Shape 5"/>
          <p:cNvSpPr/>
          <p:nvPr/>
        </p:nvSpPr>
        <p:spPr>
          <a:xfrm>
            <a:off x="0" y="6553200"/>
            <a:ext cx="12191695" cy="304800"/>
          </a:xfrm>
          <a:prstGeom prst="rect">
            <a:avLst/>
          </a:prstGeom>
          <a:solidFill>
            <a:srgbClr val="FFFFFF"/>
          </a:solidFill>
          <a:ln/>
        </p:spPr>
      </p:sp>
      <p:sp>
        <p:nvSpPr>
          <p:cNvPr id="10" name="Text 6"/>
          <p:cNvSpPr/>
          <p:nvPr/>
        </p:nvSpPr>
        <p:spPr>
          <a:xfrm>
            <a:off x="11363438" y="6583859"/>
            <a:ext cx="828257" cy="243384"/>
          </a:xfrm>
          <a:prstGeom prst="rect">
            <a:avLst/>
          </a:prstGeom>
          <a:noFill/>
          <a:ln/>
        </p:spPr>
        <p:txBody>
          <a:bodyPr wrap="none" lIns="0" tIns="0" rIns="0" bIns="0" rtlCol="0" anchor="ctr"/>
          <a:lstStyle/>
          <a:p>
            <a:pPr algn="l" indent="0" marL="0">
              <a:lnSpc>
                <a:spcPct val="118000"/>
              </a:lnSpc>
              <a:buNone/>
            </a:pPr>
            <a:r>
              <a:rPr lang="en-US" sz="1350" dirty="0">
                <a:solidFill>
                  <a:srgbClr val="000000"/>
                </a:solidFill>
                <a:latin typeface="Inter Medium" pitchFamily="34" charset="0"/>
                <a:ea typeface="Inter Medium" pitchFamily="34" charset="-122"/>
                <a:cs typeface="Inter Medium" pitchFamily="34" charset="-120"/>
              </a:rPr>
              <a:t>06</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0"/>
            <a:ext cx="3657509" cy="486767"/>
          </a:xfrm>
          <a:prstGeom prst="rect">
            <a:avLst/>
          </a:prstGeom>
          <a:noFill/>
          <a:ln/>
        </p:spPr>
        <p:txBody>
          <a:bodyPr wrap="square" lIns="0" tIns="0" rIns="0" bIns="0" rtlCol="0" anchor="ctr">
            <a:normAutofit/>
          </a:bodyPr>
          <a:lstStyle/>
          <a:p>
            <a:pPr algn="l" indent="0" marL="0">
              <a:lnSpc>
                <a:spcPct val="118000"/>
              </a:lnSpc>
              <a:buNone/>
            </a:pPr>
            <a:r>
              <a:rPr lang="en-US" sz="1350" dirty="0">
                <a:solidFill>
                  <a:srgbClr val="1C9768"/>
                </a:solidFill>
                <a:latin typeface="Inter Medium" pitchFamily="34" charset="0"/>
                <a:ea typeface="Inter Medium" pitchFamily="34" charset="-122"/>
                <a:cs typeface="Inter Medium" pitchFamily="34" charset="-120"/>
              </a:rPr>
              <a:t>Customer shopping behavior: the data behind the next growth move</a:t>
            </a:r>
            <a:endParaRPr lang="en-US" sz="1350" dirty="0"/>
          </a:p>
        </p:txBody>
      </p:sp>
      <p:sp>
        <p:nvSpPr>
          <p:cNvPr id="3" name="Shape 1"/>
          <p:cNvSpPr/>
          <p:nvPr/>
        </p:nvSpPr>
        <p:spPr>
          <a:xfrm>
            <a:off x="0" y="477242"/>
            <a:ext cx="12191695" cy="9525"/>
          </a:xfrm>
          <a:prstGeom prst="rect">
            <a:avLst/>
          </a:prstGeom>
          <a:solidFill>
            <a:srgbClr val="1C9768">
              <a:alpha val="20000"/>
            </a:srgbClr>
          </a:solidFill>
          <a:ln/>
        </p:spPr>
      </p:sp>
      <p:sp>
        <p:nvSpPr>
          <p:cNvPr id="4" name="Text 2"/>
          <p:cNvSpPr/>
          <p:nvPr/>
        </p:nvSpPr>
        <p:spPr>
          <a:xfrm>
            <a:off x="609585" y="1102558"/>
            <a:ext cx="11582110" cy="222845"/>
          </a:xfrm>
          <a:prstGeom prst="rect">
            <a:avLst/>
          </a:prstGeom>
          <a:noFill/>
          <a:ln/>
        </p:spPr>
        <p:txBody>
          <a:bodyPr wrap="none" lIns="0" tIns="0" rIns="0" bIns="0" rtlCol="0" anchor="t"/>
          <a:lstStyle/>
          <a:p>
            <a:pPr algn="l" indent="0" marL="0">
              <a:lnSpc>
                <a:spcPct val="108000"/>
              </a:lnSpc>
              <a:buNone/>
            </a:pPr>
            <a:r>
              <a:rPr lang="en-US" sz="1350" spc="108" kern="100" dirty="0">
                <a:solidFill>
                  <a:srgbClr val="666666"/>
                </a:solidFill>
                <a:latin typeface="Inter SemiBold" pitchFamily="34" charset="0"/>
                <a:ea typeface="Inter SemiBold" pitchFamily="34" charset="-122"/>
                <a:cs typeface="Inter SemiBold" pitchFamily="34" charset="-120"/>
              </a:rPr>
              <a:t>REPEATABLE METHOD</a:t>
            </a:r>
            <a:endParaRPr lang="en-US" sz="1350" dirty="0"/>
          </a:p>
        </p:txBody>
      </p:sp>
      <p:sp>
        <p:nvSpPr>
          <p:cNvPr id="5" name="Text 3"/>
          <p:cNvSpPr/>
          <p:nvPr/>
        </p:nvSpPr>
        <p:spPr>
          <a:xfrm>
            <a:off x="609585" y="1431798"/>
            <a:ext cx="10972526" cy="457696"/>
          </a:xfrm>
          <a:prstGeom prst="rect">
            <a:avLst/>
          </a:prstGeom>
          <a:noFill/>
          <a:ln/>
        </p:spPr>
        <p:txBody>
          <a:bodyPr wrap="none" lIns="0" tIns="0" rIns="0" bIns="0" rtlCol="0" anchor="t"/>
          <a:lstStyle/>
          <a:p>
            <a:pPr algn="l" indent="0" marL="0">
              <a:lnSpc>
                <a:spcPct val="88000"/>
              </a:lnSpc>
              <a:buNone/>
            </a:pPr>
            <a:r>
              <a:rPr lang="en-US" sz="3400" spc="-68" kern="100" dirty="0">
                <a:solidFill>
                  <a:srgbClr val="030303"/>
                </a:solidFill>
                <a:latin typeface="DM Sans SemiBold" pitchFamily="34" charset="0"/>
                <a:ea typeface="DM Sans SemiBold" pitchFamily="34" charset="-122"/>
                <a:cs typeface="DM Sans SemiBold" pitchFamily="34" charset="-120"/>
              </a:rPr>
              <a:t>The analytics workflow is reusable, not one-off</a:t>
            </a:r>
            <a:endParaRPr lang="en-US" sz="3400" dirty="0"/>
          </a:p>
        </p:txBody>
      </p:sp>
      <p:sp>
        <p:nvSpPr>
          <p:cNvPr id="6" name="Shape 4"/>
          <p:cNvSpPr/>
          <p:nvPr/>
        </p:nvSpPr>
        <p:spPr>
          <a:xfrm>
            <a:off x="609585" y="2053134"/>
            <a:ext cx="3454314" cy="3481288"/>
          </a:xfrm>
          <a:prstGeom prst="roundRect">
            <a:avLst>
              <a:gd name="adj" fmla="val 6176"/>
            </a:avLst>
          </a:prstGeom>
          <a:solidFill>
            <a:srgbClr val="EEF7F2"/>
          </a:solidFill>
          <a:ln/>
        </p:spPr>
      </p:sp>
      <p:sp>
        <p:nvSpPr>
          <p:cNvPr id="7" name="Shape 5"/>
          <p:cNvSpPr/>
          <p:nvPr/>
        </p:nvSpPr>
        <p:spPr>
          <a:xfrm>
            <a:off x="838179" y="2281734"/>
            <a:ext cx="449648" cy="377825"/>
          </a:xfrm>
          <a:prstGeom prst="roundRect">
            <a:avLst>
              <a:gd name="adj" fmla="val 17142"/>
            </a:avLst>
          </a:prstGeom>
          <a:solidFill>
            <a:srgbClr val="127A53"/>
          </a:solidFill>
          <a:ln/>
        </p:spPr>
      </p:sp>
      <p:sp>
        <p:nvSpPr>
          <p:cNvPr id="8" name="Text 6"/>
          <p:cNvSpPr/>
          <p:nvPr/>
        </p:nvSpPr>
        <p:spPr>
          <a:xfrm>
            <a:off x="946126" y="2362696"/>
            <a:ext cx="84333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nter SemiBold" pitchFamily="34" charset="0"/>
                <a:ea typeface="Inter SemiBold" pitchFamily="34" charset="-122"/>
                <a:cs typeface="Inter SemiBold" pitchFamily="34" charset="-120"/>
              </a:rPr>
              <a:t>01</a:t>
            </a:r>
            <a:endParaRPr lang="en-US" sz="1700" dirty="0"/>
          </a:p>
        </p:txBody>
      </p:sp>
      <p:sp>
        <p:nvSpPr>
          <p:cNvPr id="9" name="Shape 7"/>
          <p:cNvSpPr/>
          <p:nvPr/>
        </p:nvSpPr>
        <p:spPr>
          <a:xfrm>
            <a:off x="838179" y="2745879"/>
            <a:ext cx="2997125" cy="19050"/>
          </a:xfrm>
          <a:prstGeom prst="rect">
            <a:avLst/>
          </a:prstGeom>
          <a:solidFill>
            <a:srgbClr val="1C9768"/>
          </a:solidFill>
          <a:ln/>
        </p:spPr>
      </p:sp>
      <p:sp>
        <p:nvSpPr>
          <p:cNvPr id="10" name="Text 8"/>
          <p:cNvSpPr/>
          <p:nvPr/>
        </p:nvSpPr>
        <p:spPr>
          <a:xfrm>
            <a:off x="838179" y="2904887"/>
            <a:ext cx="2997125" cy="396180"/>
          </a:xfrm>
          <a:prstGeom prst="rect">
            <a:avLst/>
          </a:prstGeom>
          <a:noFill/>
          <a:ln/>
        </p:spPr>
        <p:txBody>
          <a:bodyPr wrap="none" lIns="0" tIns="0" rIns="0" bIns="0" rtlCol="0" anchor="t"/>
          <a:lstStyle/>
          <a:p>
            <a:pPr algn="l" indent="0" marL="0">
              <a:lnSpc>
                <a:spcPct val="108000"/>
              </a:lnSpc>
              <a:buNone/>
            </a:pPr>
            <a:r>
              <a:rPr lang="en-US" sz="2400" spc="-12" kern="100" dirty="0">
                <a:solidFill>
                  <a:srgbClr val="464646"/>
                </a:solidFill>
                <a:latin typeface="Inter Medium" pitchFamily="34" charset="0"/>
                <a:ea typeface="Inter Medium" pitchFamily="34" charset="-122"/>
                <a:cs typeface="Inter Medium" pitchFamily="34" charset="-120"/>
              </a:rPr>
              <a:t>Clean</a:t>
            </a:r>
            <a:endParaRPr lang="en-US" sz="2400" dirty="0"/>
          </a:p>
        </p:txBody>
      </p:sp>
      <p:sp>
        <p:nvSpPr>
          <p:cNvPr id="11" name="Text 9"/>
          <p:cNvSpPr/>
          <p:nvPr/>
        </p:nvSpPr>
        <p:spPr>
          <a:xfrm>
            <a:off x="838179" y="3437783"/>
            <a:ext cx="2997125" cy="919460"/>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464646"/>
                </a:solidFill>
                <a:latin typeface="Inter Medium" pitchFamily="34" charset="0"/>
                <a:ea typeface="Inter Medium" pitchFamily="34" charset="-122"/>
                <a:cs typeface="Inter Medium" pitchFamily="34" charset="-120"/>
              </a:rPr>
              <a:t>Clean transactional data and impute missing review ratings by category median.</a:t>
            </a:r>
            <a:endParaRPr lang="en-US" sz="1700" dirty="0"/>
          </a:p>
        </p:txBody>
      </p:sp>
      <p:sp>
        <p:nvSpPr>
          <p:cNvPr id="12" name="Shape 10"/>
          <p:cNvSpPr/>
          <p:nvPr/>
        </p:nvSpPr>
        <p:spPr>
          <a:xfrm>
            <a:off x="4368691" y="2053134"/>
            <a:ext cx="3454314" cy="3481288"/>
          </a:xfrm>
          <a:prstGeom prst="roundRect">
            <a:avLst>
              <a:gd name="adj" fmla="val 6176"/>
            </a:avLst>
          </a:prstGeom>
          <a:solidFill>
            <a:srgbClr val="EEF7F2"/>
          </a:solidFill>
          <a:ln/>
        </p:spPr>
      </p:sp>
      <p:sp>
        <p:nvSpPr>
          <p:cNvPr id="13" name="Shape 11"/>
          <p:cNvSpPr/>
          <p:nvPr/>
        </p:nvSpPr>
        <p:spPr>
          <a:xfrm>
            <a:off x="4597285" y="2281734"/>
            <a:ext cx="492906" cy="377825"/>
          </a:xfrm>
          <a:prstGeom prst="roundRect">
            <a:avLst>
              <a:gd name="adj" fmla="val 17142"/>
            </a:avLst>
          </a:prstGeom>
          <a:solidFill>
            <a:srgbClr val="127A53"/>
          </a:solidFill>
          <a:ln/>
        </p:spPr>
      </p:sp>
      <p:sp>
        <p:nvSpPr>
          <p:cNvPr id="14" name="Text 12"/>
          <p:cNvSpPr/>
          <p:nvPr/>
        </p:nvSpPr>
        <p:spPr>
          <a:xfrm>
            <a:off x="4705232" y="2362696"/>
            <a:ext cx="886597"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nter SemiBold" pitchFamily="34" charset="0"/>
                <a:ea typeface="Inter SemiBold" pitchFamily="34" charset="-122"/>
                <a:cs typeface="Inter SemiBold" pitchFamily="34" charset="-120"/>
              </a:rPr>
              <a:t>02</a:t>
            </a:r>
            <a:endParaRPr lang="en-US" sz="1700" dirty="0"/>
          </a:p>
        </p:txBody>
      </p:sp>
      <p:sp>
        <p:nvSpPr>
          <p:cNvPr id="15" name="Shape 13"/>
          <p:cNvSpPr/>
          <p:nvPr/>
        </p:nvSpPr>
        <p:spPr>
          <a:xfrm>
            <a:off x="4597285" y="2745879"/>
            <a:ext cx="2997125" cy="19050"/>
          </a:xfrm>
          <a:prstGeom prst="rect">
            <a:avLst/>
          </a:prstGeom>
          <a:solidFill>
            <a:srgbClr val="1C9768"/>
          </a:solidFill>
          <a:ln/>
        </p:spPr>
      </p:sp>
      <p:sp>
        <p:nvSpPr>
          <p:cNvPr id="16" name="Text 14"/>
          <p:cNvSpPr/>
          <p:nvPr/>
        </p:nvSpPr>
        <p:spPr>
          <a:xfrm>
            <a:off x="4597285" y="2904887"/>
            <a:ext cx="2997125" cy="396180"/>
          </a:xfrm>
          <a:prstGeom prst="rect">
            <a:avLst/>
          </a:prstGeom>
          <a:noFill/>
          <a:ln/>
        </p:spPr>
        <p:txBody>
          <a:bodyPr wrap="none" lIns="0" tIns="0" rIns="0" bIns="0" rtlCol="0" anchor="t"/>
          <a:lstStyle/>
          <a:p>
            <a:pPr algn="l" indent="0" marL="0">
              <a:lnSpc>
                <a:spcPct val="108000"/>
              </a:lnSpc>
              <a:buNone/>
            </a:pPr>
            <a:r>
              <a:rPr lang="en-US" sz="2400" spc="-12" kern="100" dirty="0">
                <a:solidFill>
                  <a:srgbClr val="464646"/>
                </a:solidFill>
                <a:latin typeface="Inter Medium" pitchFamily="34" charset="0"/>
                <a:ea typeface="Inter Medium" pitchFamily="34" charset="-122"/>
                <a:cs typeface="Inter Medium" pitchFamily="34" charset="-120"/>
              </a:rPr>
              <a:t>Standardize</a:t>
            </a:r>
            <a:endParaRPr lang="en-US" sz="2400" dirty="0"/>
          </a:p>
        </p:txBody>
      </p:sp>
      <p:sp>
        <p:nvSpPr>
          <p:cNvPr id="17" name="Text 15"/>
          <p:cNvSpPr/>
          <p:nvPr/>
        </p:nvSpPr>
        <p:spPr>
          <a:xfrm>
            <a:off x="4597285" y="3437783"/>
            <a:ext cx="2997125" cy="919460"/>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464646"/>
                </a:solidFill>
                <a:latin typeface="Inter Medium" pitchFamily="34" charset="0"/>
                <a:ea typeface="Inter Medium" pitchFamily="34" charset="-122"/>
                <a:cs typeface="Inter Medium" pitchFamily="34" charset="-120"/>
              </a:rPr>
              <a:t>Standardize fields and engineer age and purchase-frequency features.</a:t>
            </a:r>
            <a:endParaRPr lang="en-US" sz="1700" dirty="0"/>
          </a:p>
        </p:txBody>
      </p:sp>
      <p:sp>
        <p:nvSpPr>
          <p:cNvPr id="18" name="Shape 16"/>
          <p:cNvSpPr/>
          <p:nvPr/>
        </p:nvSpPr>
        <p:spPr>
          <a:xfrm>
            <a:off x="8127797" y="2053134"/>
            <a:ext cx="3454314" cy="3481288"/>
          </a:xfrm>
          <a:prstGeom prst="roundRect">
            <a:avLst>
              <a:gd name="adj" fmla="val 6176"/>
            </a:avLst>
          </a:prstGeom>
          <a:solidFill>
            <a:srgbClr val="EEF7F2"/>
          </a:solidFill>
          <a:ln/>
        </p:spPr>
      </p:sp>
      <p:sp>
        <p:nvSpPr>
          <p:cNvPr id="19" name="Shape 17"/>
          <p:cNvSpPr/>
          <p:nvPr/>
        </p:nvSpPr>
        <p:spPr>
          <a:xfrm>
            <a:off x="8356391" y="2281734"/>
            <a:ext cx="495684" cy="377825"/>
          </a:xfrm>
          <a:prstGeom prst="roundRect">
            <a:avLst>
              <a:gd name="adj" fmla="val 17142"/>
            </a:avLst>
          </a:prstGeom>
          <a:solidFill>
            <a:srgbClr val="127A53"/>
          </a:solidFill>
          <a:ln/>
        </p:spPr>
      </p:sp>
      <p:sp>
        <p:nvSpPr>
          <p:cNvPr id="20" name="Text 18"/>
          <p:cNvSpPr/>
          <p:nvPr/>
        </p:nvSpPr>
        <p:spPr>
          <a:xfrm>
            <a:off x="8464338" y="2362696"/>
            <a:ext cx="889375"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Inter SemiBold" pitchFamily="34" charset="0"/>
                <a:ea typeface="Inter SemiBold" pitchFamily="34" charset="-122"/>
                <a:cs typeface="Inter SemiBold" pitchFamily="34" charset="-120"/>
              </a:rPr>
              <a:t>03</a:t>
            </a:r>
            <a:endParaRPr lang="en-US" sz="1700" dirty="0"/>
          </a:p>
        </p:txBody>
      </p:sp>
      <p:sp>
        <p:nvSpPr>
          <p:cNvPr id="21" name="Shape 19"/>
          <p:cNvSpPr/>
          <p:nvPr/>
        </p:nvSpPr>
        <p:spPr>
          <a:xfrm>
            <a:off x="8356391" y="2745879"/>
            <a:ext cx="2997125" cy="19050"/>
          </a:xfrm>
          <a:prstGeom prst="rect">
            <a:avLst/>
          </a:prstGeom>
          <a:solidFill>
            <a:srgbClr val="1C9768"/>
          </a:solidFill>
          <a:ln/>
        </p:spPr>
      </p:sp>
      <p:sp>
        <p:nvSpPr>
          <p:cNvPr id="22" name="Text 20"/>
          <p:cNvSpPr/>
          <p:nvPr/>
        </p:nvSpPr>
        <p:spPr>
          <a:xfrm>
            <a:off x="8356391" y="2904887"/>
            <a:ext cx="2997125" cy="396180"/>
          </a:xfrm>
          <a:prstGeom prst="rect">
            <a:avLst/>
          </a:prstGeom>
          <a:noFill/>
          <a:ln/>
        </p:spPr>
        <p:txBody>
          <a:bodyPr wrap="none" lIns="0" tIns="0" rIns="0" bIns="0" rtlCol="0" anchor="t"/>
          <a:lstStyle/>
          <a:p>
            <a:pPr algn="l" indent="0" marL="0">
              <a:lnSpc>
                <a:spcPct val="108000"/>
              </a:lnSpc>
              <a:buNone/>
            </a:pPr>
            <a:r>
              <a:rPr lang="en-US" sz="2400" spc="-12" kern="100" dirty="0">
                <a:solidFill>
                  <a:srgbClr val="464646"/>
                </a:solidFill>
                <a:latin typeface="Inter Medium" pitchFamily="34" charset="0"/>
                <a:ea typeface="Inter Medium" pitchFamily="34" charset="-122"/>
                <a:cs typeface="Inter Medium" pitchFamily="34" charset="-120"/>
              </a:rPr>
              <a:t>Monitor</a:t>
            </a:r>
            <a:endParaRPr lang="en-US" sz="2400" dirty="0"/>
          </a:p>
        </p:txBody>
      </p:sp>
      <p:sp>
        <p:nvSpPr>
          <p:cNvPr id="23" name="Text 21"/>
          <p:cNvSpPr/>
          <p:nvPr/>
        </p:nvSpPr>
        <p:spPr>
          <a:xfrm>
            <a:off x="8356391" y="3437783"/>
            <a:ext cx="2997125" cy="919460"/>
          </a:xfrm>
          <a:prstGeom prst="rect">
            <a:avLst/>
          </a:prstGeom>
          <a:noFill/>
          <a:ln/>
        </p:spPr>
        <p:txBody>
          <a:bodyPr wrap="square" lIns="0" tIns="0" rIns="0" bIns="0" rtlCol="0" anchor="t">
            <a:normAutofit/>
          </a:bodyPr>
          <a:lstStyle/>
          <a:p>
            <a:pPr algn="l" indent="0" marL="0">
              <a:lnSpc>
                <a:spcPct val="118000"/>
              </a:lnSpc>
              <a:buNone/>
            </a:pPr>
            <a:r>
              <a:rPr lang="en-US" sz="1700" dirty="0">
                <a:solidFill>
                  <a:srgbClr val="464646"/>
                </a:solidFill>
                <a:latin typeface="Inter Medium" pitchFamily="34" charset="0"/>
                <a:ea typeface="Inter Medium" pitchFamily="34" charset="-122"/>
                <a:cs typeface="Inter Medium" pitchFamily="34" charset="-120"/>
              </a:rPr>
              <a:t>Use SQL for business questions and Power BI for interactive monitoring.</a:t>
            </a:r>
            <a:endParaRPr lang="en-US" sz="1700" dirty="0"/>
          </a:p>
        </p:txBody>
      </p:sp>
      <p:sp>
        <p:nvSpPr>
          <p:cNvPr id="24" name="Text 22"/>
          <p:cNvSpPr/>
          <p:nvPr/>
        </p:nvSpPr>
        <p:spPr>
          <a:xfrm>
            <a:off x="609585" y="5716270"/>
            <a:ext cx="11582110" cy="231378"/>
          </a:xfrm>
          <a:prstGeom prst="rect">
            <a:avLst/>
          </a:prstGeom>
          <a:noFill/>
          <a:ln/>
        </p:spPr>
        <p:txBody>
          <a:bodyPr wrap="none" lIns="0" tIns="0" rIns="0" bIns="0" rtlCol="0" anchor="t"/>
          <a:lstStyle/>
          <a:p>
            <a:pPr algn="l" indent="0" marL="0">
              <a:lnSpc>
                <a:spcPct val="113000"/>
              </a:lnSpc>
              <a:buNone/>
            </a:pPr>
            <a:r>
              <a:rPr lang="en-US" sz="1350" spc="13" kern="100" dirty="0">
                <a:solidFill>
                  <a:srgbClr val="666666"/>
                </a:solidFill>
                <a:latin typeface="Inter Medium" pitchFamily="34" charset="0"/>
                <a:ea typeface="Inter Medium" pitchFamily="34" charset="-122"/>
                <a:cs typeface="Inter Medium" pitchFamily="34" charset="-120"/>
              </a:rPr>
              <a:t>A shared workflow turns future questions into comparable evidence.</a:t>
            </a:r>
            <a:endParaRPr lang="en-US" sz="1350" dirty="0"/>
          </a:p>
        </p:txBody>
      </p:sp>
      <p:sp>
        <p:nvSpPr>
          <p:cNvPr id="25" name="Shape 23"/>
          <p:cNvSpPr/>
          <p:nvPr/>
        </p:nvSpPr>
        <p:spPr>
          <a:xfrm>
            <a:off x="0" y="6553200"/>
            <a:ext cx="12191695" cy="304800"/>
          </a:xfrm>
          <a:prstGeom prst="rect">
            <a:avLst/>
          </a:prstGeom>
          <a:solidFill>
            <a:srgbClr val="FFFFFF"/>
          </a:solidFill>
          <a:ln/>
        </p:spPr>
      </p:sp>
      <p:sp>
        <p:nvSpPr>
          <p:cNvPr id="26" name="Text 24"/>
          <p:cNvSpPr/>
          <p:nvPr/>
        </p:nvSpPr>
        <p:spPr>
          <a:xfrm>
            <a:off x="11376832" y="6583859"/>
            <a:ext cx="814863" cy="243384"/>
          </a:xfrm>
          <a:prstGeom prst="rect">
            <a:avLst/>
          </a:prstGeom>
          <a:noFill/>
          <a:ln/>
        </p:spPr>
        <p:txBody>
          <a:bodyPr wrap="none" lIns="0" tIns="0" rIns="0" bIns="0" rtlCol="0" anchor="ctr"/>
          <a:lstStyle/>
          <a:p>
            <a:pPr algn="l" indent="0" marL="0">
              <a:lnSpc>
                <a:spcPct val="118000"/>
              </a:lnSpc>
              <a:buNone/>
            </a:pPr>
            <a:r>
              <a:rPr lang="en-US" sz="1350" dirty="0">
                <a:solidFill>
                  <a:srgbClr val="000000"/>
                </a:solidFill>
                <a:latin typeface="Inter Medium" pitchFamily="34" charset="0"/>
                <a:ea typeface="Inter Medium" pitchFamily="34" charset="-122"/>
                <a:cs typeface="Inter Medium" pitchFamily="34" charset="-120"/>
              </a:rPr>
              <a:t>07</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0"/>
            <a:ext cx="3657509" cy="486767"/>
          </a:xfrm>
          <a:prstGeom prst="rect">
            <a:avLst/>
          </a:prstGeom>
          <a:noFill/>
          <a:ln/>
        </p:spPr>
        <p:txBody>
          <a:bodyPr wrap="square" lIns="0" tIns="0" rIns="0" bIns="0" rtlCol="0" anchor="ctr">
            <a:normAutofit/>
          </a:bodyPr>
          <a:lstStyle/>
          <a:p>
            <a:pPr algn="l" indent="0" marL="0">
              <a:lnSpc>
                <a:spcPct val="118000"/>
              </a:lnSpc>
              <a:buNone/>
            </a:pPr>
            <a:r>
              <a:rPr lang="en-US" sz="1350" dirty="0">
                <a:solidFill>
                  <a:srgbClr val="1C9768"/>
                </a:solidFill>
                <a:latin typeface="Inter Medium" pitchFamily="34" charset="0"/>
                <a:ea typeface="Inter Medium" pitchFamily="34" charset="-122"/>
                <a:cs typeface="Inter Medium" pitchFamily="34" charset="-120"/>
              </a:rPr>
              <a:t>Customer shopping behavior: the data behind the next growth move</a:t>
            </a:r>
            <a:endParaRPr lang="en-US" sz="1350" dirty="0"/>
          </a:p>
        </p:txBody>
      </p:sp>
      <p:sp>
        <p:nvSpPr>
          <p:cNvPr id="3" name="Shape 1"/>
          <p:cNvSpPr/>
          <p:nvPr/>
        </p:nvSpPr>
        <p:spPr>
          <a:xfrm>
            <a:off x="0" y="477242"/>
            <a:ext cx="12191695" cy="9525"/>
          </a:xfrm>
          <a:prstGeom prst="rect">
            <a:avLst/>
          </a:prstGeom>
          <a:solidFill>
            <a:srgbClr val="1C9768">
              <a:alpha val="20000"/>
            </a:srgbClr>
          </a:solidFill>
          <a:ln/>
        </p:spPr>
      </p:sp>
      <p:sp>
        <p:nvSpPr>
          <p:cNvPr id="4" name="Text 2"/>
          <p:cNvSpPr/>
          <p:nvPr/>
        </p:nvSpPr>
        <p:spPr>
          <a:xfrm>
            <a:off x="609585" y="1102558"/>
            <a:ext cx="7518212" cy="222845"/>
          </a:xfrm>
          <a:prstGeom prst="rect">
            <a:avLst/>
          </a:prstGeom>
          <a:noFill/>
          <a:ln/>
        </p:spPr>
        <p:txBody>
          <a:bodyPr wrap="none" lIns="0" tIns="0" rIns="0" bIns="0" rtlCol="0" anchor="t"/>
          <a:lstStyle/>
          <a:p>
            <a:pPr algn="l" indent="0" marL="0">
              <a:lnSpc>
                <a:spcPct val="108000"/>
              </a:lnSpc>
              <a:buNone/>
            </a:pPr>
            <a:r>
              <a:rPr lang="en-US" sz="1350" spc="108" kern="100" dirty="0">
                <a:solidFill>
                  <a:srgbClr val="666666"/>
                </a:solidFill>
                <a:latin typeface="Inter SemiBold" pitchFamily="34" charset="0"/>
                <a:ea typeface="Inter SemiBold" pitchFamily="34" charset="-122"/>
                <a:cs typeface="Inter SemiBold" pitchFamily="34" charset="-120"/>
              </a:rPr>
              <a:t>FROM EVIDENCE TO ACTION</a:t>
            </a:r>
            <a:endParaRPr lang="en-US" sz="1350" dirty="0"/>
          </a:p>
        </p:txBody>
      </p:sp>
      <p:sp>
        <p:nvSpPr>
          <p:cNvPr id="5" name="Text 3"/>
          <p:cNvSpPr/>
          <p:nvPr/>
        </p:nvSpPr>
        <p:spPr>
          <a:xfrm>
            <a:off x="609585" y="1431798"/>
            <a:ext cx="6908627" cy="915392"/>
          </a:xfrm>
          <a:prstGeom prst="rect">
            <a:avLst/>
          </a:prstGeom>
          <a:noFill/>
          <a:ln/>
        </p:spPr>
        <p:txBody>
          <a:bodyPr wrap="square" lIns="0" tIns="0" rIns="0" bIns="0" rtlCol="0" anchor="t">
            <a:normAutofit/>
          </a:bodyPr>
          <a:lstStyle/>
          <a:p>
            <a:pPr algn="l" indent="0" marL="0">
              <a:lnSpc>
                <a:spcPct val="88000"/>
              </a:lnSpc>
              <a:buNone/>
            </a:pPr>
            <a:r>
              <a:rPr lang="en-US" sz="3400" spc="-68" kern="100" dirty="0">
                <a:solidFill>
                  <a:srgbClr val="030303"/>
                </a:solidFill>
                <a:latin typeface="DM Sans SemiBold" pitchFamily="34" charset="0"/>
                <a:ea typeface="DM Sans SemiBold" pitchFamily="34" charset="-122"/>
                <a:cs typeface="DM Sans SemiBold" pitchFamily="34" charset="-120"/>
              </a:rPr>
              <a:t>Three actions follow directly from the evidence</a:t>
            </a:r>
            <a:endParaRPr lang="en-US" sz="3400" dirty="0"/>
          </a:p>
        </p:txBody>
      </p:sp>
      <p:sp>
        <p:nvSpPr>
          <p:cNvPr id="6" name="Text 4"/>
          <p:cNvSpPr/>
          <p:nvPr/>
        </p:nvSpPr>
        <p:spPr>
          <a:xfrm>
            <a:off x="609585" y="2510830"/>
            <a:ext cx="6908627" cy="1940520"/>
          </a:xfrm>
          <a:prstGeom prst="rect">
            <a:avLst/>
          </a:prstGeom>
          <a:noFill/>
          <a:ln/>
        </p:spPr>
        <p:txBody>
          <a:bodyPr wrap="square" lIns="0" tIns="0" rIns="0" bIns="0" rtlCol="0" anchor="t">
            <a:normAutofit/>
          </a:bodyPr>
          <a:lstStyle/>
          <a:p>
            <a:pPr algn="l" marL="345440" indent="-345440">
              <a:lnSpc>
                <a:spcPct val="118000"/>
              </a:lnSpc>
              <a:buSzPct val="100000"/>
              <a:buFont typeface="+mj-lt"/>
              <a:buAutoNum type="arabicPeriod" startAt="1"/>
            </a:pPr>
            <a:r>
              <a:rPr lang="en-US" sz="1700" dirty="0">
                <a:solidFill>
                  <a:srgbClr val="464646"/>
                </a:solidFill>
                <a:latin typeface="Inter Medium" pitchFamily="34" charset="0"/>
                <a:ea typeface="Inter Medium" pitchFamily="34" charset="-122"/>
                <a:cs typeface="Inter Medium" pitchFamily="34" charset="-120"/>
              </a:rPr>
              <a:t>Redesign subscription value around exclusive benefits, not just access.</a:t>
            </a:r>
            <a:endParaRPr lang="en-US" sz="1700" dirty="0"/>
          </a:p>
          <a:p>
            <a:pPr algn="l" marL="345440" indent="-345440">
              <a:lnSpc>
                <a:spcPct val="118000"/>
              </a:lnSpc>
              <a:buSzPct val="100000"/>
              <a:buFont typeface="+mj-lt"/>
              <a:buAutoNum type="arabicPeriod" startAt="2"/>
            </a:pPr>
            <a:r>
              <a:rPr lang="en-US" sz="1700" dirty="0">
                <a:solidFill>
                  <a:srgbClr val="464646"/>
                </a:solidFill>
                <a:latin typeface="Inter Medium" pitchFamily="34" charset="0"/>
                <a:ea typeface="Inter Medium" pitchFamily="34" charset="-122"/>
                <a:cs typeface="Inter Medium" pitchFamily="34" charset="-120"/>
              </a:rPr>
              <a:t>Use loyalty rewards to move returning customers into the loyal segment.</a:t>
            </a:r>
            <a:endParaRPr lang="en-US" sz="1700" dirty="0"/>
          </a:p>
          <a:p>
            <a:pPr algn="l" marL="345440" indent="-345440">
              <a:lnSpc>
                <a:spcPct val="118000"/>
              </a:lnSpc>
              <a:buSzPct val="100000"/>
              <a:buFont typeface="+mj-lt"/>
              <a:buAutoNum type="arabicPeriod" startAt="3"/>
            </a:pPr>
            <a:r>
              <a:rPr lang="en-US" sz="1700" dirty="0">
                <a:solidFill>
                  <a:srgbClr val="464646"/>
                </a:solidFill>
                <a:latin typeface="Inter Medium" pitchFamily="34" charset="0"/>
                <a:ea typeface="Inter Medium" pitchFamily="34" charset="-122"/>
                <a:cs typeface="Inter Medium" pitchFamily="34" charset="-120"/>
              </a:rPr>
              <a:t>Review discount policy and target high-revenue age groups, top-rated products, and express-shipping users.</a:t>
            </a:r>
            <a:endParaRPr lang="en-US" sz="1700" dirty="0"/>
          </a:p>
        </p:txBody>
      </p:sp>
      <p:pic>
        <p:nvPicPr>
          <p:cNvPr id="7" name="Image 0" descr="preencoded.png">    </p:cNvPr>
          <p:cNvPicPr>
            <a:picLocks noChangeAspect="1"/>
          </p:cNvPicPr>
          <p:nvPr/>
        </p:nvPicPr>
        <p:blipFill>
          <a:blip r:embed="rId1"/>
          <a:stretch>
            <a:fillRect/>
          </a:stretch>
        </p:blipFill>
        <p:spPr>
          <a:xfrm>
            <a:off x="8127797" y="486767"/>
            <a:ext cx="4063898" cy="6066433"/>
          </a:xfrm>
          <a:prstGeom prst="rect">
            <a:avLst/>
          </a:prstGeom>
        </p:spPr>
      </p:pic>
      <p:sp>
        <p:nvSpPr>
          <p:cNvPr id="8" name="Shape 5"/>
          <p:cNvSpPr/>
          <p:nvPr/>
        </p:nvSpPr>
        <p:spPr>
          <a:xfrm>
            <a:off x="0" y="6553200"/>
            <a:ext cx="12191695" cy="304800"/>
          </a:xfrm>
          <a:prstGeom prst="rect">
            <a:avLst/>
          </a:prstGeom>
          <a:solidFill>
            <a:srgbClr val="FFFFFF"/>
          </a:solidFill>
          <a:ln/>
        </p:spPr>
      </p:sp>
      <p:sp>
        <p:nvSpPr>
          <p:cNvPr id="9" name="Text 6"/>
          <p:cNvSpPr/>
          <p:nvPr/>
        </p:nvSpPr>
        <p:spPr>
          <a:xfrm>
            <a:off x="11363438" y="6583859"/>
            <a:ext cx="828257" cy="243384"/>
          </a:xfrm>
          <a:prstGeom prst="rect">
            <a:avLst/>
          </a:prstGeom>
          <a:noFill/>
          <a:ln/>
        </p:spPr>
        <p:txBody>
          <a:bodyPr wrap="none" lIns="0" tIns="0" rIns="0" bIns="0" rtlCol="0" anchor="ctr"/>
          <a:lstStyle/>
          <a:p>
            <a:pPr algn="l" indent="0" marL="0">
              <a:lnSpc>
                <a:spcPct val="118000"/>
              </a:lnSpc>
              <a:buNone/>
            </a:pPr>
            <a:r>
              <a:rPr lang="en-US" sz="1350" dirty="0">
                <a:solidFill>
                  <a:srgbClr val="000000"/>
                </a:solidFill>
                <a:latin typeface="Inter Medium" pitchFamily="34" charset="0"/>
                <a:ea typeface="Inter Medium" pitchFamily="34" charset="-122"/>
                <a:cs typeface="Inter Medium" pitchFamily="34" charset="-120"/>
              </a:rPr>
              <a:t>08</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2026-10-07T07:37:09Z</dcterms:created>
  <dcterms:modified xsi:type="dcterms:W3CDTF">2026-10-07T07:37:09Z</dcterms:modified>
</cp:coreProperties>
</file>